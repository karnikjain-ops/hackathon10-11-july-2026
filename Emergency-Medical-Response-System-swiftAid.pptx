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embeddedFontLst>
    <p:embeddedFont>
      <p:font typeface="Consolas" panose="020B0609020204030204" pitchFamily="49" charset="0"/>
      <p:regular r:id="rId13"/>
      <p:bold r:id="rId14"/>
      <p:italic r:id="rId15"/>
      <p:boldItalic r:id="rId16"/>
    </p:embeddedFont>
    <p:embeddedFont>
      <p:font typeface="Inter" panose="020B0604020202020204" charset="0"/>
      <p:regular r:id="rId17"/>
    </p:embeddedFont>
    <p:embeddedFont>
      <p:font typeface="Inter Bold" panose="020B0604020202020204" charset="0"/>
      <p:regular r:id="rId1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8" d="100"/>
          <a:sy n="108" d="100"/>
        </p:scale>
        <p:origin x="78" y="4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158751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6F4F4"/>
          </a:solidFill>
          <a:ln/>
        </p:spPr>
      </p:sp>
      <p:sp>
        <p:nvSpPr>
          <p:cNvPr id="3" name="Shape 1"/>
          <p:cNvSpPr/>
          <p:nvPr/>
        </p:nvSpPr>
        <p:spPr>
          <a:xfrm>
            <a:off x="0" y="0"/>
            <a:ext cx="9144000" cy="51435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jpeg"/><Relationship Id="rId4" Type="http://schemas.openxmlformats.org/officeDocument/2006/relationships/image" Target="../media/image10.jpeg"/></Relationships>
</file>

<file path=ppt/slides/_rels/slide8.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3.svg"/><Relationship Id="rId7" Type="http://schemas.openxmlformats.org/officeDocument/2006/relationships/image" Target="../media/image17.jpe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6.svg"/><Relationship Id="rId5" Type="http://schemas.openxmlformats.org/officeDocument/2006/relationships/image" Target="../media/image15.svg"/><Relationship Id="rId4" Type="http://schemas.openxmlformats.org/officeDocument/2006/relationships/image" Target="../media/image14.sv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429000" cy="5143500"/>
          </a:xfrm>
          <a:prstGeom prst="rect">
            <a:avLst/>
          </a:prstGeom>
        </p:spPr>
      </p:pic>
      <p:sp>
        <p:nvSpPr>
          <p:cNvPr id="3" name="Text 0"/>
          <p:cNvSpPr/>
          <p:nvPr/>
        </p:nvSpPr>
        <p:spPr>
          <a:xfrm>
            <a:off x="3925119" y="478259"/>
            <a:ext cx="4722763" cy="387548"/>
          </a:xfrm>
          <a:prstGeom prst="rect">
            <a:avLst/>
          </a:prstGeom>
          <a:noFill/>
          <a:ln/>
        </p:spPr>
        <p:txBody>
          <a:bodyPr wrap="none" lIns="0" tIns="0" rIns="0" bIns="0" rtlCol="0" anchor="t"/>
          <a:lstStyle/>
          <a:p>
            <a:pPr marL="0" indent="0" algn="l">
              <a:lnSpc>
                <a:spcPct val="104000"/>
              </a:lnSpc>
              <a:buNone/>
            </a:pPr>
            <a:r>
              <a:rPr lang="en-US" sz="2400" b="1" dirty="0">
                <a:solidFill>
                  <a:srgbClr val="000000"/>
                </a:solidFill>
                <a:latin typeface="Inter Bold" pitchFamily="34" charset="0"/>
                <a:ea typeface="Inter Bold" pitchFamily="34" charset="-122"/>
                <a:cs typeface="Inter Bold" pitchFamily="34" charset="-120"/>
              </a:rPr>
              <a:t>SwiftAid</a:t>
            </a:r>
            <a:endParaRPr lang="en-US" sz="2400" dirty="0"/>
          </a:p>
        </p:txBody>
      </p:sp>
      <p:sp>
        <p:nvSpPr>
          <p:cNvPr id="4" name="Text 1"/>
          <p:cNvSpPr/>
          <p:nvPr/>
        </p:nvSpPr>
        <p:spPr>
          <a:xfrm>
            <a:off x="3925119" y="1051843"/>
            <a:ext cx="4722763" cy="1069777"/>
          </a:xfrm>
          <a:prstGeom prst="rect">
            <a:avLst/>
          </a:prstGeom>
          <a:noFill/>
          <a:ln/>
        </p:spPr>
        <p:txBody>
          <a:bodyPr wrap="square" lIns="0" tIns="0" rIns="0" bIns="0" rtlCol="0" anchor="t">
            <a:normAutofit/>
          </a:bodyPr>
          <a:lstStyle/>
          <a:p>
            <a:pPr marL="0" indent="0" algn="l">
              <a:lnSpc>
                <a:spcPct val="104000"/>
              </a:lnSpc>
              <a:buNone/>
            </a:pPr>
            <a:r>
              <a:rPr lang="en-US" sz="3350" b="1" dirty="0">
                <a:solidFill>
                  <a:srgbClr val="000000"/>
                </a:solidFill>
                <a:latin typeface="Inter Bold" pitchFamily="34" charset="0"/>
                <a:ea typeface="Inter Bold" pitchFamily="34" charset="-122"/>
                <a:cs typeface="Inter Bold" pitchFamily="34" charset="-120"/>
              </a:rPr>
              <a:t>Emergency Medical Response System</a:t>
            </a:r>
            <a:endParaRPr lang="en-US" sz="3350" dirty="0"/>
          </a:p>
        </p:txBody>
      </p:sp>
      <p:sp>
        <p:nvSpPr>
          <p:cNvPr id="5" name="Text 2"/>
          <p:cNvSpPr/>
          <p:nvPr/>
        </p:nvSpPr>
        <p:spPr>
          <a:xfrm>
            <a:off x="3925119" y="2307654"/>
            <a:ext cx="4722763"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272525"/>
                </a:solidFill>
                <a:latin typeface="Inter" pitchFamily="34" charset="0"/>
                <a:ea typeface="Inter" pitchFamily="34" charset="-122"/>
                <a:cs typeface="Inter" pitchFamily="34" charset="-120"/>
              </a:rPr>
              <a:t>A smart, real-time healthcare dispatch and SOS platform built to drastically reduce ambulance response times and save lives — one tap at a time.</a:t>
            </a:r>
            <a:endParaRPr lang="en-US" sz="950" dirty="0"/>
          </a:p>
        </p:txBody>
      </p:sp>
      <p:sp>
        <p:nvSpPr>
          <p:cNvPr id="6" name="Shape 3"/>
          <p:cNvSpPr/>
          <p:nvPr/>
        </p:nvSpPr>
        <p:spPr>
          <a:xfrm>
            <a:off x="3925119" y="2844105"/>
            <a:ext cx="1374204" cy="188565"/>
          </a:xfrm>
          <a:prstGeom prst="roundRect">
            <a:avLst>
              <a:gd name="adj" fmla="val 22104"/>
            </a:avLst>
          </a:prstGeom>
          <a:solidFill>
            <a:srgbClr val="DADBF1"/>
          </a:solidFill>
          <a:ln/>
        </p:spPr>
      </p:sp>
      <p:sp>
        <p:nvSpPr>
          <p:cNvPr id="7" name="Text 4"/>
          <p:cNvSpPr/>
          <p:nvPr/>
        </p:nvSpPr>
        <p:spPr>
          <a:xfrm>
            <a:off x="3999533" y="2881313"/>
            <a:ext cx="1682576" cy="114151"/>
          </a:xfrm>
          <a:prstGeom prst="rect">
            <a:avLst/>
          </a:prstGeom>
          <a:noFill/>
          <a:ln/>
        </p:spPr>
        <p:txBody>
          <a:bodyPr wrap="none" lIns="0" tIns="0" rIns="0" bIns="0" rtlCol="0" anchor="t"/>
          <a:lstStyle/>
          <a:p>
            <a:pPr marL="0" indent="0" algn="l">
              <a:lnSpc>
                <a:spcPct val="96000"/>
              </a:lnSpc>
              <a:buNone/>
            </a:pPr>
            <a:r>
              <a:rPr lang="en-US" sz="750" dirty="0">
                <a:solidFill>
                  <a:srgbClr val="272525"/>
                </a:solidFill>
                <a:latin typeface="Inter" pitchFamily="34" charset="0"/>
                <a:ea typeface="Inter" pitchFamily="34" charset="-122"/>
                <a:cs typeface="Inter" pitchFamily="34" charset="-120"/>
              </a:rPr>
              <a:t>HACKATHON PITCH 2024</a:t>
            </a:r>
            <a:endParaRPr lang="en-US" sz="750" dirty="0"/>
          </a:p>
        </p:txBody>
      </p:sp>
      <p:sp>
        <p:nvSpPr>
          <p:cNvPr id="8" name="Shape 5"/>
          <p:cNvSpPr/>
          <p:nvPr/>
        </p:nvSpPr>
        <p:spPr>
          <a:xfrm>
            <a:off x="5361310" y="2844105"/>
            <a:ext cx="984796" cy="188565"/>
          </a:xfrm>
          <a:prstGeom prst="roundRect">
            <a:avLst>
              <a:gd name="adj" fmla="val 22104"/>
            </a:avLst>
          </a:prstGeom>
          <a:noFill/>
          <a:ln w="4763">
            <a:solidFill>
              <a:srgbClr val="4950BC"/>
            </a:solidFill>
            <a:prstDash val="solid"/>
          </a:ln>
        </p:spPr>
      </p:sp>
      <p:sp>
        <p:nvSpPr>
          <p:cNvPr id="9" name="Text 6"/>
          <p:cNvSpPr/>
          <p:nvPr/>
        </p:nvSpPr>
        <p:spPr>
          <a:xfrm>
            <a:off x="5435724" y="2881313"/>
            <a:ext cx="1293168" cy="114151"/>
          </a:xfrm>
          <a:prstGeom prst="rect">
            <a:avLst/>
          </a:prstGeom>
          <a:noFill/>
          <a:ln/>
        </p:spPr>
        <p:txBody>
          <a:bodyPr wrap="none" lIns="0" tIns="0" rIns="0" bIns="0" rtlCol="0" anchor="t"/>
          <a:lstStyle/>
          <a:p>
            <a:pPr marL="0" indent="0" algn="l">
              <a:lnSpc>
                <a:spcPct val="96000"/>
              </a:lnSpc>
              <a:buNone/>
            </a:pPr>
            <a:r>
              <a:rPr lang="en-US" sz="750" dirty="0">
                <a:solidFill>
                  <a:srgbClr val="4950BC"/>
                </a:solidFill>
                <a:latin typeface="Inter" pitchFamily="34" charset="0"/>
                <a:ea typeface="Inter" pitchFamily="34" charset="-122"/>
                <a:cs typeface="Inter" pitchFamily="34" charset="-120"/>
              </a:rPr>
              <a:t>EMRS PLATFORM</a:t>
            </a:r>
            <a:endParaRPr lang="en-US" sz="750" dirty="0"/>
          </a:p>
        </p:txBody>
      </p:sp>
      <p:sp>
        <p:nvSpPr>
          <p:cNvPr id="10" name="Shape 7"/>
          <p:cNvSpPr/>
          <p:nvPr/>
        </p:nvSpPr>
        <p:spPr>
          <a:xfrm>
            <a:off x="3925119" y="3172197"/>
            <a:ext cx="4722763" cy="1493044"/>
          </a:xfrm>
          <a:prstGeom prst="roundRect">
            <a:avLst>
              <a:gd name="adj" fmla="val 3489"/>
            </a:avLst>
          </a:prstGeom>
          <a:solidFill>
            <a:srgbClr val="DADBF1"/>
          </a:solidFill>
          <a:ln/>
        </p:spPr>
      </p:sp>
      <p:pic>
        <p:nvPicPr>
          <p:cNvPr id="11" name="Image 1" descr="preencoded.png"/>
          <p:cNvPicPr>
            <a:picLocks noChangeAspect="1"/>
          </p:cNvPicPr>
          <p:nvPr/>
        </p:nvPicPr>
        <p:blipFill>
          <a:blip r:embed="rId4"/>
          <a:stretch>
            <a:fillRect/>
          </a:stretch>
        </p:blipFill>
        <p:spPr>
          <a:xfrm>
            <a:off x="4049092" y="3351981"/>
            <a:ext cx="155004" cy="123974"/>
          </a:xfrm>
          <a:prstGeom prst="rect">
            <a:avLst/>
          </a:prstGeom>
        </p:spPr>
      </p:pic>
      <p:sp>
        <p:nvSpPr>
          <p:cNvPr id="12" name="Text 8"/>
          <p:cNvSpPr/>
          <p:nvPr/>
        </p:nvSpPr>
        <p:spPr>
          <a:xfrm>
            <a:off x="4328071" y="3327127"/>
            <a:ext cx="4195837" cy="1195536"/>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000000"/>
                </a:solidFill>
                <a:latin typeface="Inter" pitchFamily="34" charset="0"/>
                <a:ea typeface="Inter" pitchFamily="34" charset="-122"/>
                <a:cs typeface="Inter" pitchFamily="34" charset="-120"/>
              </a:rPr>
              <a:t>🎤</a:t>
            </a:r>
            <a:r>
              <a:rPr lang="en-US" sz="950" b="1" dirty="0">
                <a:solidFill>
                  <a:srgbClr val="000000"/>
                </a:solidFill>
                <a:latin typeface="Inter Bold" pitchFamily="34" charset="0"/>
                <a:ea typeface="Inter Bold" pitchFamily="34" charset="-122"/>
                <a:cs typeface="Inter Bold" pitchFamily="34" charset="-120"/>
              </a:rPr>
              <a:t> Speaker Notes:</a:t>
            </a:r>
            <a:r>
              <a:rPr lang="en-US" sz="950" dirty="0">
                <a:solidFill>
                  <a:srgbClr val="000000"/>
                </a:solidFill>
                <a:latin typeface="Inter" pitchFamily="34" charset="0"/>
                <a:ea typeface="Inter" pitchFamily="34" charset="-122"/>
                <a:cs typeface="Inter" pitchFamily="34" charset="-120"/>
              </a:rPr>
              <a:t> Good morning/afternoon. My name is [Name] and I'm here to present SwiftAid — an Emergency Medical Response System that we built because every second in a medical emergency is the difference between life and death. In the next five minutes, I'll show you how we're reimagining emergency healthcare dispatch from the ground up.</a:t>
            </a:r>
            <a:endParaRPr lang="en-US" sz="950" dirty="0"/>
          </a:p>
        </p:txBody>
      </p:sp>
      <p:sp>
        <p:nvSpPr>
          <p:cNvPr id="13" name="Rectangle 12">
            <a:extLst>
              <a:ext uri="{FF2B5EF4-FFF2-40B4-BE49-F238E27FC236}">
                <a16:creationId xmlns:a16="http://schemas.microsoft.com/office/drawing/2014/main" id="{5F6AB657-5A95-36DB-56B7-510987791213}"/>
              </a:ext>
            </a:extLst>
          </p:cNvPr>
          <p:cNvSpPr/>
          <p:nvPr/>
        </p:nvSpPr>
        <p:spPr>
          <a:xfrm>
            <a:off x="8008730" y="4845878"/>
            <a:ext cx="1135270" cy="234122"/>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96119" y="705743"/>
            <a:ext cx="8151763" cy="387548"/>
          </a:xfrm>
          <a:prstGeom prst="rect">
            <a:avLst/>
          </a:prstGeom>
          <a:noFill/>
          <a:ln/>
        </p:spPr>
        <p:txBody>
          <a:bodyPr wrap="none" lIns="0" tIns="0" rIns="0" bIns="0" rtlCol="0" anchor="t"/>
          <a:lstStyle/>
          <a:p>
            <a:pPr marL="0" indent="0" algn="l">
              <a:lnSpc>
                <a:spcPct val="104000"/>
              </a:lnSpc>
              <a:buNone/>
            </a:pPr>
            <a:r>
              <a:rPr lang="en-US" sz="2400" b="1" dirty="0">
                <a:solidFill>
                  <a:srgbClr val="000000"/>
                </a:solidFill>
                <a:latin typeface="Inter Bold" pitchFamily="34" charset="0"/>
                <a:ea typeface="Inter Bold" pitchFamily="34" charset="-122"/>
                <a:cs typeface="Inter Bold" pitchFamily="34" charset="-120"/>
              </a:rPr>
              <a:t>Every Second Counts — But the System Doesn't</a:t>
            </a:r>
            <a:endParaRPr lang="en-US" sz="2400" dirty="0"/>
          </a:p>
        </p:txBody>
      </p:sp>
      <p:sp>
        <p:nvSpPr>
          <p:cNvPr id="3" name="Text 1"/>
          <p:cNvSpPr/>
          <p:nvPr/>
        </p:nvSpPr>
        <p:spPr>
          <a:xfrm>
            <a:off x="496119" y="1341313"/>
            <a:ext cx="8151763"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272525"/>
                </a:solidFill>
                <a:latin typeface="Inter" pitchFamily="34" charset="0"/>
                <a:ea typeface="Inter" pitchFamily="34" charset="-122"/>
                <a:cs typeface="Inter" pitchFamily="34" charset="-120"/>
              </a:rPr>
              <a:t>Medical emergencies are chaotic, confusing, and often deadly — not because of a lack of ambulances, but because of a lack of coordination. The current system is broken.</a:t>
            </a:r>
            <a:endParaRPr lang="en-US" sz="950" dirty="0"/>
          </a:p>
        </p:txBody>
      </p:sp>
      <p:sp>
        <p:nvSpPr>
          <p:cNvPr id="4" name="Shape 2"/>
          <p:cNvSpPr/>
          <p:nvPr/>
        </p:nvSpPr>
        <p:spPr>
          <a:xfrm>
            <a:off x="496119" y="1877764"/>
            <a:ext cx="2634555" cy="1324347"/>
          </a:xfrm>
          <a:prstGeom prst="roundRect">
            <a:avLst>
              <a:gd name="adj" fmla="val 3934"/>
            </a:avLst>
          </a:prstGeom>
          <a:solidFill>
            <a:srgbClr val="DADBF1"/>
          </a:solidFill>
          <a:ln w="4763">
            <a:solidFill>
              <a:srgbClr val="C0C1D7"/>
            </a:solidFill>
            <a:prstDash val="solid"/>
          </a:ln>
        </p:spPr>
      </p:sp>
      <p:sp>
        <p:nvSpPr>
          <p:cNvPr id="5" name="Text 3"/>
          <p:cNvSpPr/>
          <p:nvPr/>
        </p:nvSpPr>
        <p:spPr>
          <a:xfrm>
            <a:off x="624855" y="2006501"/>
            <a:ext cx="2377083" cy="198611"/>
          </a:xfrm>
          <a:prstGeom prst="rect">
            <a:avLst/>
          </a:prstGeom>
          <a:noFill/>
          <a:ln/>
        </p:spPr>
        <p:txBody>
          <a:bodyPr wrap="none" lIns="0" tIns="0" rIns="0" bIns="0" rtlCol="0" anchor="t"/>
          <a:lstStyle/>
          <a:p>
            <a:pPr marL="0" indent="0" algn="l">
              <a:lnSpc>
                <a:spcPct val="104000"/>
              </a:lnSpc>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b="1" dirty="0">
                <a:solidFill>
                  <a:srgbClr val="272525"/>
                </a:solidFill>
                <a:latin typeface="Inter Bold" pitchFamily="34" charset="0"/>
                <a:ea typeface="Inter Bold" pitchFamily="34" charset="-122"/>
                <a:cs typeface="Inter Bold" pitchFamily="34" charset="-120"/>
              </a:rPr>
              <a:t> Slow Response</a:t>
            </a:r>
            <a:endParaRPr lang="en-US" sz="1200" dirty="0"/>
          </a:p>
        </p:txBody>
      </p:sp>
      <p:sp>
        <p:nvSpPr>
          <p:cNvPr id="6" name="Text 4"/>
          <p:cNvSpPr/>
          <p:nvPr/>
        </p:nvSpPr>
        <p:spPr>
          <a:xfrm>
            <a:off x="624855" y="2279526"/>
            <a:ext cx="2377083" cy="793849"/>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272525"/>
                </a:solidFill>
                <a:latin typeface="Inter" pitchFamily="34" charset="0"/>
                <a:ea typeface="Inter" pitchFamily="34" charset="-122"/>
                <a:cs typeface="Inter" pitchFamily="34" charset="-120"/>
              </a:rPr>
              <a:t>Average ambulance response times exceed 10–15 minutes in urban areas — critical minutes lost to dispatch inefficiency.</a:t>
            </a:r>
            <a:endParaRPr lang="en-US" sz="950" dirty="0"/>
          </a:p>
        </p:txBody>
      </p:sp>
      <p:sp>
        <p:nvSpPr>
          <p:cNvPr id="7" name="Shape 5"/>
          <p:cNvSpPr/>
          <p:nvPr/>
        </p:nvSpPr>
        <p:spPr>
          <a:xfrm>
            <a:off x="3254648" y="1877764"/>
            <a:ext cx="2634630" cy="1324347"/>
          </a:xfrm>
          <a:prstGeom prst="roundRect">
            <a:avLst>
              <a:gd name="adj" fmla="val 3934"/>
            </a:avLst>
          </a:prstGeom>
          <a:solidFill>
            <a:srgbClr val="DADBF1"/>
          </a:solidFill>
          <a:ln w="4763">
            <a:solidFill>
              <a:srgbClr val="C0C1D7"/>
            </a:solidFill>
            <a:prstDash val="solid"/>
          </a:ln>
        </p:spPr>
      </p:sp>
      <p:sp>
        <p:nvSpPr>
          <p:cNvPr id="8" name="Text 6"/>
          <p:cNvSpPr/>
          <p:nvPr/>
        </p:nvSpPr>
        <p:spPr>
          <a:xfrm>
            <a:off x="3383384" y="2006501"/>
            <a:ext cx="2377157" cy="198611"/>
          </a:xfrm>
          <a:prstGeom prst="rect">
            <a:avLst/>
          </a:prstGeom>
          <a:noFill/>
          <a:ln/>
        </p:spPr>
        <p:txBody>
          <a:bodyPr wrap="none" lIns="0" tIns="0" rIns="0" bIns="0" rtlCol="0" anchor="t"/>
          <a:lstStyle/>
          <a:p>
            <a:pPr marL="0" indent="0" algn="l">
              <a:lnSpc>
                <a:spcPct val="104000"/>
              </a:lnSpc>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b="1" dirty="0">
                <a:solidFill>
                  <a:srgbClr val="272525"/>
                </a:solidFill>
                <a:latin typeface="Inter Bold" pitchFamily="34" charset="0"/>
                <a:ea typeface="Inter Bold" pitchFamily="34" charset="-122"/>
                <a:cs typeface="Inter Bold" pitchFamily="34" charset="-120"/>
              </a:rPr>
              <a:t> No Patient Data</a:t>
            </a:r>
            <a:endParaRPr lang="en-US" sz="1200" dirty="0"/>
          </a:p>
        </p:txBody>
      </p:sp>
      <p:sp>
        <p:nvSpPr>
          <p:cNvPr id="9" name="Text 7"/>
          <p:cNvSpPr/>
          <p:nvPr/>
        </p:nvSpPr>
        <p:spPr>
          <a:xfrm>
            <a:off x="3383384" y="2279526"/>
            <a:ext cx="2377157" cy="793849"/>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272525"/>
                </a:solidFill>
                <a:latin typeface="Inter" pitchFamily="34" charset="0"/>
                <a:ea typeface="Inter" pitchFamily="34" charset="-122"/>
                <a:cs typeface="Inter" pitchFamily="34" charset="-120"/>
              </a:rPr>
              <a:t>Paramedics arrive blind — no blood type, no allergies, no medical history. Treatment is delayed while they figure it out.</a:t>
            </a:r>
            <a:endParaRPr lang="en-US" sz="950" dirty="0"/>
          </a:p>
        </p:txBody>
      </p:sp>
      <p:sp>
        <p:nvSpPr>
          <p:cNvPr id="10" name="Shape 8"/>
          <p:cNvSpPr/>
          <p:nvPr/>
        </p:nvSpPr>
        <p:spPr>
          <a:xfrm>
            <a:off x="6013252" y="1877764"/>
            <a:ext cx="2634555" cy="1324347"/>
          </a:xfrm>
          <a:prstGeom prst="roundRect">
            <a:avLst>
              <a:gd name="adj" fmla="val 3934"/>
            </a:avLst>
          </a:prstGeom>
          <a:solidFill>
            <a:srgbClr val="DADBF1"/>
          </a:solidFill>
          <a:ln w="4763">
            <a:solidFill>
              <a:srgbClr val="C0C1D7"/>
            </a:solidFill>
            <a:prstDash val="solid"/>
          </a:ln>
        </p:spPr>
      </p:sp>
      <p:sp>
        <p:nvSpPr>
          <p:cNvPr id="11" name="Text 9"/>
          <p:cNvSpPr/>
          <p:nvPr/>
        </p:nvSpPr>
        <p:spPr>
          <a:xfrm>
            <a:off x="6141988" y="2006501"/>
            <a:ext cx="2377083" cy="198611"/>
          </a:xfrm>
          <a:prstGeom prst="rect">
            <a:avLst/>
          </a:prstGeom>
          <a:noFill/>
          <a:ln/>
        </p:spPr>
        <p:txBody>
          <a:bodyPr wrap="none" lIns="0" tIns="0" rIns="0" bIns="0" rtlCol="0" anchor="t"/>
          <a:lstStyle/>
          <a:p>
            <a:pPr marL="0" indent="0" algn="l">
              <a:lnSpc>
                <a:spcPct val="104000"/>
              </a:lnSpc>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b="1" dirty="0">
                <a:solidFill>
                  <a:srgbClr val="272525"/>
                </a:solidFill>
                <a:latin typeface="Inter Bold" pitchFamily="34" charset="0"/>
                <a:ea typeface="Inter Bold" pitchFamily="34" charset="-122"/>
                <a:cs typeface="Inter Bold" pitchFamily="34" charset="-120"/>
              </a:rPr>
              <a:t> Zero Coordination</a:t>
            </a:r>
            <a:endParaRPr lang="en-US" sz="1200" dirty="0"/>
          </a:p>
        </p:txBody>
      </p:sp>
      <p:sp>
        <p:nvSpPr>
          <p:cNvPr id="12" name="Text 10"/>
          <p:cNvSpPr/>
          <p:nvPr/>
        </p:nvSpPr>
        <p:spPr>
          <a:xfrm>
            <a:off x="6141988" y="2279526"/>
            <a:ext cx="2377083"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272525"/>
                </a:solidFill>
                <a:latin typeface="Inter" pitchFamily="34" charset="0"/>
                <a:ea typeface="Inter" pitchFamily="34" charset="-122"/>
                <a:cs typeface="Inter" pitchFamily="34" charset="-120"/>
              </a:rPr>
              <a:t>Hospitals aren't alerted until the patient arrives. ER teams are unprepared, beds aren't ready, and time is wasted.</a:t>
            </a:r>
            <a:endParaRPr lang="en-US" sz="950" dirty="0"/>
          </a:p>
        </p:txBody>
      </p:sp>
      <p:sp>
        <p:nvSpPr>
          <p:cNvPr id="13" name="Shape 11"/>
          <p:cNvSpPr/>
          <p:nvPr/>
        </p:nvSpPr>
        <p:spPr>
          <a:xfrm>
            <a:off x="496119" y="3341638"/>
            <a:ext cx="8151763" cy="1096119"/>
          </a:xfrm>
          <a:prstGeom prst="roundRect">
            <a:avLst>
              <a:gd name="adj" fmla="val 4753"/>
            </a:avLst>
          </a:prstGeom>
          <a:solidFill>
            <a:srgbClr val="DADBF1"/>
          </a:solidFill>
          <a:ln/>
        </p:spPr>
      </p:sp>
      <p:pic>
        <p:nvPicPr>
          <p:cNvPr id="14" name="Image 0" descr="preencoded.png"/>
          <p:cNvPicPr>
            <a:picLocks noChangeAspect="1"/>
          </p:cNvPicPr>
          <p:nvPr/>
        </p:nvPicPr>
        <p:blipFill>
          <a:blip r:embed="rId3"/>
          <a:stretch>
            <a:fillRect/>
          </a:stretch>
        </p:blipFill>
        <p:spPr>
          <a:xfrm>
            <a:off x="620092" y="3521422"/>
            <a:ext cx="155004" cy="123974"/>
          </a:xfrm>
          <a:prstGeom prst="rect">
            <a:avLst/>
          </a:prstGeom>
        </p:spPr>
      </p:pic>
      <p:sp>
        <p:nvSpPr>
          <p:cNvPr id="15" name="Text 12"/>
          <p:cNvSpPr/>
          <p:nvPr/>
        </p:nvSpPr>
        <p:spPr>
          <a:xfrm>
            <a:off x="899071" y="3496568"/>
            <a:ext cx="7624837" cy="798612"/>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000000"/>
                </a:solidFill>
                <a:latin typeface="Inter" pitchFamily="34" charset="0"/>
                <a:ea typeface="Inter" pitchFamily="34" charset="-122"/>
                <a:cs typeface="Inter" pitchFamily="34" charset="-120"/>
              </a:rPr>
              <a:t>🎤</a:t>
            </a:r>
            <a:r>
              <a:rPr lang="en-US" sz="950" b="1" dirty="0">
                <a:solidFill>
                  <a:srgbClr val="000000"/>
                </a:solidFill>
                <a:latin typeface="Inter Bold" pitchFamily="34" charset="0"/>
                <a:ea typeface="Inter Bold" pitchFamily="34" charset="-122"/>
                <a:cs typeface="Inter Bold" pitchFamily="34" charset="-120"/>
              </a:rPr>
              <a:t> Speaker Notes:</a:t>
            </a:r>
            <a:r>
              <a:rPr lang="en-US" sz="950" dirty="0">
                <a:solidFill>
                  <a:srgbClr val="000000"/>
                </a:solidFill>
                <a:latin typeface="Inter" pitchFamily="34" charset="0"/>
                <a:ea typeface="Inter" pitchFamily="34" charset="-122"/>
                <a:cs typeface="Inter" pitchFamily="34" charset="-120"/>
              </a:rPr>
              <a:t> Let me paint a picture. Someone collapses on the street. A bystander calls an ambulance — but the dispatcher has to manually locate the nearest available unit, check hospital capacity, and relay information over radio. The patient's medical history? Nobody has it. The hospital? They don't know the patient is coming. By the time the ambulance arrives, precious minutes — sometimes the difference between life and death — have already been lost. This is the problem SwiftAid solves.</a:t>
            </a:r>
            <a:endParaRPr lang="en-US" sz="950" dirty="0"/>
          </a:p>
        </p:txBody>
      </p:sp>
      <p:sp>
        <p:nvSpPr>
          <p:cNvPr id="17" name="Rectangle 16">
            <a:extLst>
              <a:ext uri="{FF2B5EF4-FFF2-40B4-BE49-F238E27FC236}">
                <a16:creationId xmlns:a16="http://schemas.microsoft.com/office/drawing/2014/main" id="{EACAE5C9-B155-8121-D01E-0A75F7E337D5}"/>
              </a:ext>
            </a:extLst>
          </p:cNvPr>
          <p:cNvSpPr/>
          <p:nvPr/>
        </p:nvSpPr>
        <p:spPr>
          <a:xfrm>
            <a:off x="8008730" y="4845878"/>
            <a:ext cx="1135270" cy="234122"/>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96119" y="341114"/>
            <a:ext cx="8151763" cy="193849"/>
          </a:xfrm>
          <a:prstGeom prst="rect">
            <a:avLst/>
          </a:prstGeom>
          <a:noFill/>
          <a:ln/>
        </p:spPr>
        <p:txBody>
          <a:bodyPr wrap="none" lIns="0" tIns="0" rIns="0" bIns="0" rtlCol="0" anchor="t"/>
          <a:lstStyle/>
          <a:p>
            <a:pPr marL="0" indent="0" algn="l">
              <a:lnSpc>
                <a:spcPct val="104000"/>
              </a:lnSpc>
              <a:buNone/>
            </a:pPr>
            <a:r>
              <a:rPr lang="en-US" sz="1200" b="1" dirty="0">
                <a:solidFill>
                  <a:srgbClr val="000000"/>
                </a:solidFill>
                <a:latin typeface="Inter Bold" pitchFamily="34" charset="0"/>
                <a:ea typeface="Inter Bold" pitchFamily="34" charset="-122"/>
                <a:cs typeface="Inter Bold" pitchFamily="34" charset="-120"/>
              </a:rPr>
              <a:t>Introducing SwiftAid</a:t>
            </a:r>
            <a:endParaRPr lang="en-US" sz="1200" dirty="0"/>
          </a:p>
        </p:txBody>
      </p:sp>
      <p:sp>
        <p:nvSpPr>
          <p:cNvPr id="3" name="Text 1"/>
          <p:cNvSpPr/>
          <p:nvPr/>
        </p:nvSpPr>
        <p:spPr>
          <a:xfrm>
            <a:off x="496119" y="596950"/>
            <a:ext cx="8151763" cy="148679"/>
          </a:xfrm>
          <a:prstGeom prst="rect">
            <a:avLst/>
          </a:prstGeom>
          <a:noFill/>
          <a:ln/>
        </p:spPr>
        <p:txBody>
          <a:bodyPr wrap="square" lIns="0" tIns="0" rIns="0" bIns="0" rtlCol="0" anchor="t">
            <a:normAutofit/>
          </a:bodyPr>
          <a:lstStyle/>
          <a:p>
            <a:pPr marL="0" indent="0" algn="l">
              <a:lnSpc>
                <a:spcPct val="100000"/>
              </a:lnSpc>
              <a:buNone/>
            </a:pPr>
            <a:r>
              <a:rPr lang="en-US" sz="450" dirty="0">
                <a:solidFill>
                  <a:srgbClr val="272525"/>
                </a:solidFill>
                <a:latin typeface="Inter" pitchFamily="34" charset="0"/>
                <a:ea typeface="Inter" pitchFamily="34" charset="-122"/>
                <a:cs typeface="Inter" pitchFamily="34" charset="-120"/>
              </a:rPr>
              <a:t>SwiftAid is an end-to-end Emergency Medical Response System — a unified platform connecting patients, ambulances, hospitals, and administrators in real time. From the moment an emergency is triggered to the moment a patient is safely admitted, every step is intelligent, coordinated, and instantaneous.</a:t>
            </a:r>
            <a:endParaRPr lang="en-US" sz="450" dirty="0"/>
          </a:p>
        </p:txBody>
      </p:sp>
      <p:pic>
        <p:nvPicPr>
          <p:cNvPr id="4" name="Image 0" descr="preencoded.png"/>
          <p:cNvPicPr>
            <a:picLocks noChangeAspect="1"/>
          </p:cNvPicPr>
          <p:nvPr/>
        </p:nvPicPr>
        <p:blipFill>
          <a:blip r:embed="rId3"/>
          <a:stretch>
            <a:fillRect/>
          </a:stretch>
        </p:blipFill>
        <p:spPr>
          <a:xfrm>
            <a:off x="496119" y="780455"/>
            <a:ext cx="8151763" cy="3668241"/>
          </a:xfrm>
          <a:prstGeom prst="rect">
            <a:avLst/>
          </a:prstGeom>
        </p:spPr>
      </p:pic>
      <p:sp>
        <p:nvSpPr>
          <p:cNvPr id="5" name="Text 2"/>
          <p:cNvSpPr/>
          <p:nvPr/>
        </p:nvSpPr>
        <p:spPr>
          <a:xfrm>
            <a:off x="1724067" y="910763"/>
            <a:ext cx="1426538" cy="220447"/>
          </a:xfrm>
          <a:prstGeom prst="rect">
            <a:avLst/>
          </a:prstGeom>
          <a:noFill/>
          <a:ln/>
        </p:spPr>
        <p:txBody>
          <a:bodyPr wrap="none" lIns="0" tIns="0" rIns="0" bIns="0" rtlCol="0" anchor="t"/>
          <a:lstStyle/>
          <a:p>
            <a:pPr marL="0" indent="0" algn="ctr">
              <a:lnSpc>
                <a:spcPct val="104000"/>
              </a:lnSpc>
              <a:buNone/>
            </a:pPr>
            <a:r>
              <a:rPr lang="en-US" sz="1350" b="1" dirty="0">
                <a:solidFill>
                  <a:srgbClr val="272525"/>
                </a:solidFill>
                <a:latin typeface="Inter Bold" pitchFamily="34" charset="0"/>
                <a:ea typeface="Inter Bold" pitchFamily="34" charset="-122"/>
                <a:cs typeface="Inter Bold" pitchFamily="34" charset="-120"/>
              </a:rPr>
              <a:t>Patient SOS</a:t>
            </a:r>
            <a:endParaRPr lang="en-US" sz="1350" dirty="0"/>
          </a:p>
        </p:txBody>
      </p:sp>
      <p:sp>
        <p:nvSpPr>
          <p:cNvPr id="6" name="Text 3"/>
          <p:cNvSpPr/>
          <p:nvPr/>
        </p:nvSpPr>
        <p:spPr>
          <a:xfrm>
            <a:off x="1724067" y="1193916"/>
            <a:ext cx="1426538" cy="396805"/>
          </a:xfrm>
          <a:prstGeom prst="rect">
            <a:avLst/>
          </a:prstGeom>
          <a:noFill/>
          <a:ln/>
        </p:spPr>
        <p:txBody>
          <a:bodyPr wrap="square" lIns="0" tIns="0" rIns="0" bIns="0" rtlCol="0" anchor="t">
            <a:normAutofit/>
          </a:bodyPr>
          <a:lstStyle/>
          <a:p>
            <a:pPr marL="0" indent="0" algn="ctr">
              <a:lnSpc>
                <a:spcPct val="78000"/>
              </a:lnSpc>
              <a:buNone/>
            </a:pPr>
            <a:r>
              <a:rPr lang="en-US" sz="1100" dirty="0">
                <a:solidFill>
                  <a:srgbClr val="272525"/>
                </a:solidFill>
                <a:latin typeface="Inter" pitchFamily="34" charset="0"/>
                <a:ea typeface="Inter" pitchFamily="34" charset="-122"/>
                <a:cs typeface="Inter" pitchFamily="34" charset="-120"/>
              </a:rPr>
              <a:t>User triggers emergency alert instantly</a:t>
            </a:r>
            <a:endParaRPr lang="en-US" sz="1100" dirty="0"/>
          </a:p>
        </p:txBody>
      </p:sp>
      <p:sp>
        <p:nvSpPr>
          <p:cNvPr id="7" name="Text 4"/>
          <p:cNvSpPr/>
          <p:nvPr/>
        </p:nvSpPr>
        <p:spPr>
          <a:xfrm>
            <a:off x="3134929" y="3661945"/>
            <a:ext cx="1434376" cy="220447"/>
          </a:xfrm>
          <a:prstGeom prst="rect">
            <a:avLst/>
          </a:prstGeom>
          <a:noFill/>
          <a:ln/>
        </p:spPr>
        <p:txBody>
          <a:bodyPr wrap="none" lIns="0" tIns="0" rIns="0" bIns="0" rtlCol="0" anchor="t"/>
          <a:lstStyle/>
          <a:p>
            <a:pPr marL="0" indent="0" algn="ctr">
              <a:lnSpc>
                <a:spcPct val="104000"/>
              </a:lnSpc>
              <a:buNone/>
            </a:pPr>
            <a:r>
              <a:rPr lang="en-US" sz="1350" b="1" dirty="0">
                <a:solidFill>
                  <a:srgbClr val="272525"/>
                </a:solidFill>
                <a:latin typeface="Inter Bold" pitchFamily="34" charset="0"/>
                <a:ea typeface="Inter Bold" pitchFamily="34" charset="-122"/>
                <a:cs typeface="Inter Bold" pitchFamily="34" charset="-120"/>
              </a:rPr>
              <a:t>AI Dispatch</a:t>
            </a:r>
            <a:endParaRPr lang="en-US" sz="1350" dirty="0"/>
          </a:p>
        </p:txBody>
      </p:sp>
      <p:sp>
        <p:nvSpPr>
          <p:cNvPr id="8" name="Text 5"/>
          <p:cNvSpPr/>
          <p:nvPr/>
        </p:nvSpPr>
        <p:spPr>
          <a:xfrm>
            <a:off x="3134929" y="3945096"/>
            <a:ext cx="1434376" cy="396805"/>
          </a:xfrm>
          <a:prstGeom prst="rect">
            <a:avLst/>
          </a:prstGeom>
          <a:noFill/>
          <a:ln/>
        </p:spPr>
        <p:txBody>
          <a:bodyPr wrap="square" lIns="0" tIns="0" rIns="0" bIns="0" rtlCol="0" anchor="t">
            <a:normAutofit/>
          </a:bodyPr>
          <a:lstStyle/>
          <a:p>
            <a:pPr marL="0" indent="0" algn="ctr">
              <a:lnSpc>
                <a:spcPct val="78000"/>
              </a:lnSpc>
              <a:buNone/>
            </a:pPr>
            <a:r>
              <a:rPr lang="en-US" sz="1100" dirty="0">
                <a:solidFill>
                  <a:srgbClr val="272525"/>
                </a:solidFill>
                <a:latin typeface="Inter" pitchFamily="34" charset="0"/>
                <a:ea typeface="Inter" pitchFamily="34" charset="-122"/>
                <a:cs typeface="Inter" pitchFamily="34" charset="-120"/>
              </a:rPr>
              <a:t>System assigns ambulance and notifies hospital</a:t>
            </a:r>
            <a:endParaRPr lang="en-US" sz="1100" dirty="0"/>
          </a:p>
        </p:txBody>
      </p:sp>
      <p:sp>
        <p:nvSpPr>
          <p:cNvPr id="9" name="Text 6"/>
          <p:cNvSpPr/>
          <p:nvPr/>
        </p:nvSpPr>
        <p:spPr>
          <a:xfrm>
            <a:off x="4530115" y="883330"/>
            <a:ext cx="1426538" cy="220447"/>
          </a:xfrm>
          <a:prstGeom prst="rect">
            <a:avLst/>
          </a:prstGeom>
          <a:noFill/>
          <a:ln/>
        </p:spPr>
        <p:txBody>
          <a:bodyPr wrap="none" lIns="0" tIns="0" rIns="0" bIns="0" rtlCol="0" anchor="t"/>
          <a:lstStyle/>
          <a:p>
            <a:pPr marL="0" indent="0" algn="ctr">
              <a:lnSpc>
                <a:spcPct val="104000"/>
              </a:lnSpc>
              <a:buNone/>
            </a:pPr>
            <a:r>
              <a:rPr lang="en-US" sz="1350" b="1" dirty="0">
                <a:solidFill>
                  <a:srgbClr val="272525"/>
                </a:solidFill>
                <a:latin typeface="Inter Bold" pitchFamily="34" charset="0"/>
                <a:ea typeface="Inter Bold" pitchFamily="34" charset="-122"/>
                <a:cs typeface="Inter Bold" pitchFamily="34" charset="-120"/>
              </a:rPr>
              <a:t>Live Support</a:t>
            </a:r>
            <a:endParaRPr lang="en-US" sz="1350" dirty="0"/>
          </a:p>
        </p:txBody>
      </p:sp>
      <p:sp>
        <p:nvSpPr>
          <p:cNvPr id="10" name="Text 7"/>
          <p:cNvSpPr/>
          <p:nvPr/>
        </p:nvSpPr>
        <p:spPr>
          <a:xfrm>
            <a:off x="4530115" y="1166482"/>
            <a:ext cx="1426538" cy="396805"/>
          </a:xfrm>
          <a:prstGeom prst="rect">
            <a:avLst/>
          </a:prstGeom>
          <a:noFill/>
          <a:ln/>
        </p:spPr>
        <p:txBody>
          <a:bodyPr wrap="square" lIns="0" tIns="0" rIns="0" bIns="0" rtlCol="0" anchor="t">
            <a:normAutofit/>
          </a:bodyPr>
          <a:lstStyle/>
          <a:p>
            <a:pPr marL="0" indent="0" algn="ctr">
              <a:lnSpc>
                <a:spcPct val="78000"/>
              </a:lnSpc>
              <a:buNone/>
            </a:pPr>
            <a:r>
              <a:rPr lang="en-US" sz="1100" dirty="0">
                <a:solidFill>
                  <a:srgbClr val="272525"/>
                </a:solidFill>
                <a:latin typeface="Inter" pitchFamily="34" charset="0"/>
                <a:ea typeface="Inter" pitchFamily="34" charset="-122"/>
                <a:cs typeface="Inter" pitchFamily="34" charset="-120"/>
              </a:rPr>
              <a:t>Real-time tracking and first-aid guidance</a:t>
            </a:r>
            <a:endParaRPr lang="en-US" sz="1100" dirty="0"/>
          </a:p>
        </p:txBody>
      </p:sp>
      <p:sp>
        <p:nvSpPr>
          <p:cNvPr id="11" name="Text 8"/>
          <p:cNvSpPr/>
          <p:nvPr/>
        </p:nvSpPr>
        <p:spPr>
          <a:xfrm>
            <a:off x="5940977" y="3661945"/>
            <a:ext cx="1426539" cy="220447"/>
          </a:xfrm>
          <a:prstGeom prst="rect">
            <a:avLst/>
          </a:prstGeom>
          <a:noFill/>
          <a:ln/>
        </p:spPr>
        <p:txBody>
          <a:bodyPr wrap="none" lIns="0" tIns="0" rIns="0" bIns="0" rtlCol="0" anchor="t"/>
          <a:lstStyle/>
          <a:p>
            <a:pPr marL="0" indent="0" algn="ctr">
              <a:lnSpc>
                <a:spcPct val="104000"/>
              </a:lnSpc>
              <a:buNone/>
            </a:pPr>
            <a:r>
              <a:rPr lang="en-US" sz="1350" b="1" dirty="0">
                <a:solidFill>
                  <a:srgbClr val="272525"/>
                </a:solidFill>
                <a:latin typeface="Inter Bold" pitchFamily="34" charset="0"/>
                <a:ea typeface="Inter Bold" pitchFamily="34" charset="-122"/>
                <a:cs typeface="Inter Bold" pitchFamily="34" charset="-120"/>
              </a:rPr>
              <a:t>Prepared Arrival</a:t>
            </a:r>
            <a:endParaRPr lang="en-US" sz="1350" dirty="0"/>
          </a:p>
        </p:txBody>
      </p:sp>
      <p:sp>
        <p:nvSpPr>
          <p:cNvPr id="12" name="Text 9"/>
          <p:cNvSpPr/>
          <p:nvPr/>
        </p:nvSpPr>
        <p:spPr>
          <a:xfrm>
            <a:off x="5940977" y="3945096"/>
            <a:ext cx="1426539" cy="396805"/>
          </a:xfrm>
          <a:prstGeom prst="rect">
            <a:avLst/>
          </a:prstGeom>
          <a:noFill/>
          <a:ln/>
        </p:spPr>
        <p:txBody>
          <a:bodyPr wrap="square" lIns="0" tIns="0" rIns="0" bIns="0" rtlCol="0" anchor="t">
            <a:normAutofit/>
          </a:bodyPr>
          <a:lstStyle/>
          <a:p>
            <a:pPr marL="0" indent="0" algn="ctr">
              <a:lnSpc>
                <a:spcPct val="78000"/>
              </a:lnSpc>
              <a:buNone/>
            </a:pPr>
            <a:r>
              <a:rPr lang="en-US" sz="1100" dirty="0">
                <a:solidFill>
                  <a:srgbClr val="272525"/>
                </a:solidFill>
                <a:latin typeface="Inter" pitchFamily="34" charset="0"/>
                <a:ea typeface="Inter" pitchFamily="34" charset="-122"/>
                <a:cs typeface="Inter" pitchFamily="34" charset="-120"/>
              </a:rPr>
              <a:t>Patient reaches hospital ready for care</a:t>
            </a:r>
            <a:endParaRPr lang="en-US" sz="1100" dirty="0"/>
          </a:p>
        </p:txBody>
      </p:sp>
      <p:sp>
        <p:nvSpPr>
          <p:cNvPr id="13" name="Text 10"/>
          <p:cNvSpPr/>
          <p:nvPr/>
        </p:nvSpPr>
        <p:spPr>
          <a:xfrm>
            <a:off x="496119" y="4483522"/>
            <a:ext cx="8608963" cy="74340"/>
          </a:xfrm>
          <a:prstGeom prst="rect">
            <a:avLst/>
          </a:prstGeom>
          <a:noFill/>
          <a:ln/>
        </p:spPr>
        <p:txBody>
          <a:bodyPr wrap="none" lIns="0" tIns="0" rIns="0" bIns="0" rtlCol="0" anchor="t"/>
          <a:lstStyle/>
          <a:p>
            <a:pPr marL="0" indent="0" algn="l">
              <a:lnSpc>
                <a:spcPct val="100000"/>
              </a:lnSpc>
              <a:buNone/>
            </a:pPr>
            <a:r>
              <a:rPr lang="en-US" sz="450" dirty="0">
                <a:solidFill>
                  <a:srgbClr val="272525"/>
                </a:solidFill>
                <a:latin typeface="Inter" pitchFamily="34" charset="0"/>
                <a:ea typeface="Inter" pitchFamily="34" charset="-122"/>
                <a:cs typeface="Inter" pitchFamily="34" charset="-120"/>
              </a:rPr>
              <a:t>SwiftAid is not just an app — it is a complete emergency ecosystem built for the real world, with three interconnected dashboards and an AI-powered dispatch engine working in unison.</a:t>
            </a:r>
            <a:endParaRPr lang="en-US" sz="450" dirty="0"/>
          </a:p>
        </p:txBody>
      </p:sp>
      <p:sp>
        <p:nvSpPr>
          <p:cNvPr id="14" name="Shape 11"/>
          <p:cNvSpPr/>
          <p:nvPr/>
        </p:nvSpPr>
        <p:spPr>
          <a:xfrm>
            <a:off x="496119" y="4592687"/>
            <a:ext cx="8151763" cy="238497"/>
          </a:xfrm>
          <a:prstGeom prst="roundRect">
            <a:avLst>
              <a:gd name="adj" fmla="val 10922"/>
            </a:avLst>
          </a:prstGeom>
          <a:solidFill>
            <a:srgbClr val="DADBF1"/>
          </a:solidFill>
          <a:ln/>
        </p:spPr>
      </p:sp>
      <p:pic>
        <p:nvPicPr>
          <p:cNvPr id="15" name="Image 1" descr="preencoded.png"/>
          <p:cNvPicPr>
            <a:picLocks noChangeAspect="1"/>
          </p:cNvPicPr>
          <p:nvPr/>
        </p:nvPicPr>
        <p:blipFill>
          <a:blip r:embed="rId4"/>
          <a:stretch>
            <a:fillRect/>
          </a:stretch>
        </p:blipFill>
        <p:spPr>
          <a:xfrm>
            <a:off x="558105" y="4670152"/>
            <a:ext cx="77465" cy="61987"/>
          </a:xfrm>
          <a:prstGeom prst="rect">
            <a:avLst/>
          </a:prstGeom>
        </p:spPr>
      </p:pic>
      <p:sp>
        <p:nvSpPr>
          <p:cNvPr id="16" name="Text 12"/>
          <p:cNvSpPr/>
          <p:nvPr/>
        </p:nvSpPr>
        <p:spPr>
          <a:xfrm>
            <a:off x="697557" y="4639121"/>
            <a:ext cx="7888337" cy="148679"/>
          </a:xfrm>
          <a:prstGeom prst="rect">
            <a:avLst/>
          </a:prstGeom>
          <a:noFill/>
          <a:ln/>
        </p:spPr>
        <p:txBody>
          <a:bodyPr wrap="square" lIns="0" tIns="0" rIns="0" bIns="0" rtlCol="0" anchor="t">
            <a:normAutofit/>
          </a:bodyPr>
          <a:lstStyle/>
          <a:p>
            <a:pPr marL="0" indent="0" algn="l">
              <a:lnSpc>
                <a:spcPct val="100000"/>
              </a:lnSpc>
              <a:buNone/>
            </a:pPr>
            <a:r>
              <a:rPr lang="en-US" sz="450" dirty="0">
                <a:solidFill>
                  <a:srgbClr val="000000"/>
                </a:solidFill>
                <a:latin typeface="Inter" pitchFamily="34" charset="0"/>
                <a:ea typeface="Inter" pitchFamily="34" charset="-122"/>
                <a:cs typeface="Inter" pitchFamily="34" charset="-120"/>
              </a:rPr>
              <a:t>🎤</a:t>
            </a:r>
            <a:r>
              <a:rPr lang="en-US" sz="450" b="1" dirty="0">
                <a:solidFill>
                  <a:srgbClr val="000000"/>
                </a:solidFill>
                <a:latin typeface="Inter Bold" pitchFamily="34" charset="0"/>
                <a:ea typeface="Inter Bold" pitchFamily="34" charset="-122"/>
                <a:cs typeface="Inter Bold" pitchFamily="34" charset="-120"/>
              </a:rPr>
              <a:t> Speaker Notes:</a:t>
            </a:r>
            <a:r>
              <a:rPr lang="en-US" sz="450" dirty="0">
                <a:solidFill>
                  <a:srgbClr val="000000"/>
                </a:solidFill>
                <a:latin typeface="Inter" pitchFamily="34" charset="0"/>
                <a:ea typeface="Inter" pitchFamily="34" charset="-122"/>
                <a:cs typeface="Inter" pitchFamily="34" charset="-120"/>
              </a:rPr>
              <a:t> SwiftAid is a complete emergency response ecosystem. Here's how it works in four steps: First, the patient triggers an SOS. Second, our AI instantly dispatches the nearest ambulance and alerts the nearest hospital with capacity. Third, while help is on the way, the patient receives live first-aid guidance and can track their ambulance in real time. Fourth, when the patient arrives, the hospital is already prepared. Every piece of this system talks to each other in real time — no silos, no delays.</a:t>
            </a:r>
            <a:endParaRPr lang="en-US" sz="450" dirty="0"/>
          </a:p>
        </p:txBody>
      </p:sp>
      <p:sp>
        <p:nvSpPr>
          <p:cNvPr id="18" name="Rectangle 17">
            <a:extLst>
              <a:ext uri="{FF2B5EF4-FFF2-40B4-BE49-F238E27FC236}">
                <a16:creationId xmlns:a16="http://schemas.microsoft.com/office/drawing/2014/main" id="{3DBF4982-3F97-4311-B12B-12C6C0440CF5}"/>
              </a:ext>
            </a:extLst>
          </p:cNvPr>
          <p:cNvSpPr/>
          <p:nvPr/>
        </p:nvSpPr>
        <p:spPr>
          <a:xfrm>
            <a:off x="8008730" y="4845878"/>
            <a:ext cx="1135270" cy="234122"/>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96119" y="497756"/>
            <a:ext cx="8151763" cy="387548"/>
          </a:xfrm>
          <a:prstGeom prst="rect">
            <a:avLst/>
          </a:prstGeom>
          <a:noFill/>
          <a:ln/>
        </p:spPr>
        <p:txBody>
          <a:bodyPr wrap="none" lIns="0" tIns="0" rIns="0" bIns="0" rtlCol="0" anchor="t"/>
          <a:lstStyle/>
          <a:p>
            <a:pPr marL="0" indent="0" algn="l">
              <a:lnSpc>
                <a:spcPct val="104000"/>
              </a:lnSpc>
              <a:buNone/>
            </a:pPr>
            <a:r>
              <a:rPr lang="en-US" sz="2400" b="1" dirty="0">
                <a:solidFill>
                  <a:srgbClr val="000000"/>
                </a:solidFill>
                <a:latin typeface="Inter Bold" pitchFamily="34" charset="0"/>
                <a:ea typeface="Inter Bold" pitchFamily="34" charset="-122"/>
                <a:cs typeface="Inter Bold" pitchFamily="34" charset="-120"/>
              </a:rPr>
              <a:t>Feature 1: The One-Tap SOS App</a:t>
            </a:r>
            <a:endParaRPr lang="en-US" sz="2400" dirty="0"/>
          </a:p>
        </p:txBody>
      </p:sp>
      <p:sp>
        <p:nvSpPr>
          <p:cNvPr id="3" name="Text 1"/>
          <p:cNvSpPr/>
          <p:nvPr/>
        </p:nvSpPr>
        <p:spPr>
          <a:xfrm>
            <a:off x="496119" y="1133326"/>
            <a:ext cx="8608963" cy="198462"/>
          </a:xfrm>
          <a:prstGeom prst="rect">
            <a:avLst/>
          </a:prstGeom>
          <a:noFill/>
          <a:ln/>
        </p:spPr>
        <p:txBody>
          <a:bodyPr wrap="none" lIns="0" tIns="0" rIns="0" bIns="0" rtlCol="0" anchor="t"/>
          <a:lstStyle/>
          <a:p>
            <a:pPr marL="0" indent="0" algn="l">
              <a:lnSpc>
                <a:spcPct val="133000"/>
              </a:lnSpc>
              <a:buNone/>
            </a:pPr>
            <a:r>
              <a:rPr lang="en-US" sz="950" dirty="0">
                <a:solidFill>
                  <a:srgbClr val="272525"/>
                </a:solidFill>
                <a:latin typeface="Inter" pitchFamily="34" charset="0"/>
                <a:ea typeface="Inter" pitchFamily="34" charset="-122"/>
                <a:cs typeface="Inter" pitchFamily="34" charset="-120"/>
              </a:rPr>
              <a:t>The patient experience is designed for maximum simplicity under maximum stress. In a medical emergency, there is no time for complexity.</a:t>
            </a:r>
            <a:endParaRPr lang="en-US" sz="95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6119" y="1471315"/>
            <a:ext cx="2634555" cy="1541859"/>
          </a:xfrm>
          <a:prstGeom prst="rect">
            <a:avLst/>
          </a:prstGeom>
        </p:spPr>
      </p:pic>
      <p:sp>
        <p:nvSpPr>
          <p:cNvPr id="5" name="Text 2"/>
          <p:cNvSpPr/>
          <p:nvPr/>
        </p:nvSpPr>
        <p:spPr>
          <a:xfrm>
            <a:off x="691530" y="1609576"/>
            <a:ext cx="2300883" cy="198611"/>
          </a:xfrm>
          <a:prstGeom prst="rect">
            <a:avLst/>
          </a:prstGeom>
          <a:noFill/>
          <a:ln/>
        </p:spPr>
        <p:txBody>
          <a:bodyPr wrap="none" lIns="0" tIns="0" rIns="0" bIns="0" rtlCol="0" anchor="t"/>
          <a:lstStyle/>
          <a:p>
            <a:pPr marL="0" indent="0" algn="l">
              <a:lnSpc>
                <a:spcPct val="104000"/>
              </a:lnSpc>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b="1" dirty="0">
                <a:solidFill>
                  <a:srgbClr val="272525"/>
                </a:solidFill>
                <a:latin typeface="Inter Bold" pitchFamily="34" charset="0"/>
                <a:ea typeface="Inter Bold" pitchFamily="34" charset="-122"/>
                <a:cs typeface="Inter Bold" pitchFamily="34" charset="-120"/>
              </a:rPr>
              <a:t> Pre-Saved Medical Profile</a:t>
            </a:r>
            <a:endParaRPr lang="en-US" sz="1200" dirty="0"/>
          </a:p>
        </p:txBody>
      </p:sp>
      <p:sp>
        <p:nvSpPr>
          <p:cNvPr id="6" name="Text 3"/>
          <p:cNvSpPr/>
          <p:nvPr/>
        </p:nvSpPr>
        <p:spPr>
          <a:xfrm>
            <a:off x="691530" y="1882601"/>
            <a:ext cx="2300883" cy="992312"/>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272525"/>
                </a:solidFill>
                <a:latin typeface="Inter" pitchFamily="34" charset="0"/>
                <a:ea typeface="Inter" pitchFamily="34" charset="-122"/>
                <a:cs typeface="Inter" pitchFamily="34" charset="-120"/>
              </a:rPr>
              <a:t>Users store their name, blood type, allergies, and pre-existing conditions. This data is instantly available to paramedics the moment an SOS is triggered.</a:t>
            </a:r>
            <a:endParaRPr lang="en-US" sz="95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54648" y="1471315"/>
            <a:ext cx="2634630" cy="1541859"/>
          </a:xfrm>
          <a:prstGeom prst="rect">
            <a:avLst/>
          </a:prstGeom>
        </p:spPr>
      </p:pic>
      <p:sp>
        <p:nvSpPr>
          <p:cNvPr id="8" name="Text 4"/>
          <p:cNvSpPr/>
          <p:nvPr/>
        </p:nvSpPr>
        <p:spPr>
          <a:xfrm>
            <a:off x="3450059" y="1609576"/>
            <a:ext cx="2300957" cy="198611"/>
          </a:xfrm>
          <a:prstGeom prst="rect">
            <a:avLst/>
          </a:prstGeom>
          <a:noFill/>
          <a:ln/>
        </p:spPr>
        <p:txBody>
          <a:bodyPr wrap="none" lIns="0" tIns="0" rIns="0" bIns="0" rtlCol="0" anchor="t"/>
          <a:lstStyle/>
          <a:p>
            <a:pPr marL="0" indent="0" algn="l">
              <a:lnSpc>
                <a:spcPct val="104000"/>
              </a:lnSpc>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b="1" dirty="0">
                <a:solidFill>
                  <a:srgbClr val="272525"/>
                </a:solidFill>
                <a:latin typeface="Inter Bold" pitchFamily="34" charset="0"/>
                <a:ea typeface="Inter Bold" pitchFamily="34" charset="-122"/>
                <a:cs typeface="Inter Bold" pitchFamily="34" charset="-120"/>
              </a:rPr>
              <a:t> Instant SOS Trigger</a:t>
            </a:r>
            <a:endParaRPr lang="en-US" sz="1200" dirty="0"/>
          </a:p>
        </p:txBody>
      </p:sp>
      <p:sp>
        <p:nvSpPr>
          <p:cNvPr id="9" name="Text 5"/>
          <p:cNvSpPr/>
          <p:nvPr/>
        </p:nvSpPr>
        <p:spPr>
          <a:xfrm>
            <a:off x="3450059" y="1882601"/>
            <a:ext cx="2300957" cy="992312"/>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272525"/>
                </a:solidFill>
                <a:latin typeface="Inter" pitchFamily="34" charset="0"/>
                <a:ea typeface="Inter" pitchFamily="34" charset="-122"/>
                <a:cs typeface="Inter" pitchFamily="34" charset="-120"/>
              </a:rPr>
              <a:t>Type symptoms, hit the massive "SEND SOS" button. GPS location is captured automatically and the request is fired to the central server in milliseconds.</a:t>
            </a:r>
            <a:endParaRPr lang="en-US" sz="950"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13252" y="1471315"/>
            <a:ext cx="2634555" cy="1541859"/>
          </a:xfrm>
          <a:prstGeom prst="rect">
            <a:avLst/>
          </a:prstGeom>
        </p:spPr>
      </p:pic>
      <p:sp>
        <p:nvSpPr>
          <p:cNvPr id="11" name="Text 6"/>
          <p:cNvSpPr/>
          <p:nvPr/>
        </p:nvSpPr>
        <p:spPr>
          <a:xfrm>
            <a:off x="6208663" y="1609576"/>
            <a:ext cx="2300883" cy="198611"/>
          </a:xfrm>
          <a:prstGeom prst="rect">
            <a:avLst/>
          </a:prstGeom>
          <a:noFill/>
          <a:ln/>
        </p:spPr>
        <p:txBody>
          <a:bodyPr wrap="none" lIns="0" tIns="0" rIns="0" bIns="0" rtlCol="0" anchor="t"/>
          <a:lstStyle/>
          <a:p>
            <a:pPr marL="0" indent="0" algn="l">
              <a:lnSpc>
                <a:spcPct val="104000"/>
              </a:lnSpc>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b="1" dirty="0">
                <a:solidFill>
                  <a:srgbClr val="272525"/>
                </a:solidFill>
                <a:latin typeface="Inter Bold" pitchFamily="34" charset="0"/>
                <a:ea typeface="Inter Bold" pitchFamily="34" charset="-122"/>
                <a:cs typeface="Inter Bold" pitchFamily="34" charset="-120"/>
              </a:rPr>
              <a:t> AI First-Aid Guidance</a:t>
            </a:r>
            <a:endParaRPr lang="en-US" sz="1200" dirty="0"/>
          </a:p>
        </p:txBody>
      </p:sp>
      <p:sp>
        <p:nvSpPr>
          <p:cNvPr id="12" name="Text 7"/>
          <p:cNvSpPr/>
          <p:nvPr/>
        </p:nvSpPr>
        <p:spPr>
          <a:xfrm>
            <a:off x="6208663" y="1882601"/>
            <a:ext cx="2300883" cy="992312"/>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272525"/>
                </a:solidFill>
                <a:latin typeface="Inter" pitchFamily="34" charset="0"/>
                <a:ea typeface="Inter" pitchFamily="34" charset="-122"/>
                <a:cs typeface="Inter" pitchFamily="34" charset="-120"/>
              </a:rPr>
              <a:t>While waiting, the app delivers symptom-specific, AI-driven first-aid instructions — empowering patients or bystanders to take life-saving action immediately.</a:t>
            </a:r>
            <a:endParaRPr lang="en-US" sz="950" dirty="0"/>
          </a:p>
        </p:txBody>
      </p:sp>
      <p:sp>
        <p:nvSpPr>
          <p:cNvPr id="13" name="Shape 8"/>
          <p:cNvSpPr/>
          <p:nvPr/>
        </p:nvSpPr>
        <p:spPr>
          <a:xfrm>
            <a:off x="496119" y="3152701"/>
            <a:ext cx="8151763" cy="1493044"/>
          </a:xfrm>
          <a:prstGeom prst="roundRect">
            <a:avLst>
              <a:gd name="adj" fmla="val 3489"/>
            </a:avLst>
          </a:prstGeom>
          <a:solidFill>
            <a:srgbClr val="DADBF1"/>
          </a:solidFill>
          <a:ln/>
        </p:spPr>
      </p:sp>
      <p:pic>
        <p:nvPicPr>
          <p:cNvPr id="14" name="Image 3" descr="preencoded.png"/>
          <p:cNvPicPr>
            <a:picLocks noChangeAspect="1"/>
          </p:cNvPicPr>
          <p:nvPr/>
        </p:nvPicPr>
        <p:blipFill>
          <a:blip r:embed="rId4"/>
          <a:stretch>
            <a:fillRect/>
          </a:stretch>
        </p:blipFill>
        <p:spPr>
          <a:xfrm>
            <a:off x="620092" y="3332485"/>
            <a:ext cx="155004" cy="123974"/>
          </a:xfrm>
          <a:prstGeom prst="rect">
            <a:avLst/>
          </a:prstGeom>
        </p:spPr>
      </p:pic>
      <p:sp>
        <p:nvSpPr>
          <p:cNvPr id="15" name="Text 9"/>
          <p:cNvSpPr/>
          <p:nvPr/>
        </p:nvSpPr>
        <p:spPr>
          <a:xfrm>
            <a:off x="899071" y="3307631"/>
            <a:ext cx="7624837" cy="1195536"/>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000000"/>
                </a:solidFill>
                <a:latin typeface="Inter" pitchFamily="34" charset="0"/>
                <a:ea typeface="Inter" pitchFamily="34" charset="-122"/>
                <a:cs typeface="Inter" pitchFamily="34" charset="-120"/>
              </a:rPr>
              <a:t>🎤</a:t>
            </a:r>
            <a:r>
              <a:rPr lang="en-US" sz="950" b="1" dirty="0">
                <a:solidFill>
                  <a:srgbClr val="000000"/>
                </a:solidFill>
                <a:latin typeface="Inter Bold" pitchFamily="34" charset="0"/>
                <a:ea typeface="Inter Bold" pitchFamily="34" charset="-122"/>
                <a:cs typeface="Inter Bold" pitchFamily="34" charset="-120"/>
              </a:rPr>
              <a:t> Speaker Notes:</a:t>
            </a:r>
            <a:r>
              <a:rPr lang="en-US" sz="950" dirty="0">
                <a:solidFill>
                  <a:srgbClr val="000000"/>
                </a:solidFill>
                <a:latin typeface="Inter" pitchFamily="34" charset="0"/>
                <a:ea typeface="Inter" pitchFamily="34" charset="-122"/>
                <a:cs typeface="Inter" pitchFamily="34" charset="-120"/>
              </a:rPr>
              <a:t> Let me walk you through the patient experience. Before any emergency happens, users pre-save their medical profile — blood type, allergies, existing conditions. When an emergency strikes, they simply type their symptoms and tap one giant SEND SOS button. The app instantly captures their GPS location and fires the request to our central server. But here's what sets us apart — while they wait, our AI analyzes their symptoms and delivers real-time first-aid instructions. So a bystander dealing with a cardiac event gets CPR guidance. Someone experiencing an allergic reaction gets epinephrine instructions. This feature alone can save lives before the ambulance even arrives.</a:t>
            </a:r>
            <a:endParaRPr lang="en-US" sz="950" dirty="0"/>
          </a:p>
        </p:txBody>
      </p:sp>
      <p:sp>
        <p:nvSpPr>
          <p:cNvPr id="17" name="Rectangle 16">
            <a:extLst>
              <a:ext uri="{FF2B5EF4-FFF2-40B4-BE49-F238E27FC236}">
                <a16:creationId xmlns:a16="http://schemas.microsoft.com/office/drawing/2014/main" id="{3463AF82-CC54-BD7B-07F4-B328E9F71BFB}"/>
              </a:ext>
            </a:extLst>
          </p:cNvPr>
          <p:cNvSpPr/>
          <p:nvPr/>
        </p:nvSpPr>
        <p:spPr>
          <a:xfrm>
            <a:off x="8008730" y="4845878"/>
            <a:ext cx="1135270" cy="234122"/>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96119" y="341114"/>
            <a:ext cx="8151763" cy="193849"/>
          </a:xfrm>
          <a:prstGeom prst="rect">
            <a:avLst/>
          </a:prstGeom>
          <a:noFill/>
          <a:ln/>
        </p:spPr>
        <p:txBody>
          <a:bodyPr wrap="none" lIns="0" tIns="0" rIns="0" bIns="0" rtlCol="0" anchor="t"/>
          <a:lstStyle/>
          <a:p>
            <a:pPr marL="0" indent="0" algn="l">
              <a:lnSpc>
                <a:spcPct val="104000"/>
              </a:lnSpc>
              <a:buNone/>
            </a:pPr>
            <a:r>
              <a:rPr lang="en-US" sz="1200" b="1" dirty="0">
                <a:solidFill>
                  <a:srgbClr val="000000"/>
                </a:solidFill>
                <a:latin typeface="Inter Bold" pitchFamily="34" charset="0"/>
                <a:ea typeface="Inter Bold" pitchFamily="34" charset="-122"/>
                <a:cs typeface="Inter Bold" pitchFamily="34" charset="-120"/>
              </a:rPr>
              <a:t>Feature 2: Live Tracking &amp; Direct Communication</a:t>
            </a:r>
            <a:endParaRPr lang="en-US" sz="1200" dirty="0"/>
          </a:p>
        </p:txBody>
      </p:sp>
      <p:sp>
        <p:nvSpPr>
          <p:cNvPr id="3" name="Text 1"/>
          <p:cNvSpPr/>
          <p:nvPr/>
        </p:nvSpPr>
        <p:spPr>
          <a:xfrm>
            <a:off x="496119" y="596950"/>
            <a:ext cx="8608963" cy="74340"/>
          </a:xfrm>
          <a:prstGeom prst="rect">
            <a:avLst/>
          </a:prstGeom>
          <a:noFill/>
          <a:ln/>
        </p:spPr>
        <p:txBody>
          <a:bodyPr wrap="none" lIns="0" tIns="0" rIns="0" bIns="0" rtlCol="0" anchor="t"/>
          <a:lstStyle/>
          <a:p>
            <a:pPr marL="0" indent="0" algn="l">
              <a:lnSpc>
                <a:spcPct val="100000"/>
              </a:lnSpc>
              <a:buNone/>
            </a:pPr>
            <a:r>
              <a:rPr lang="en-US" sz="450" dirty="0">
                <a:solidFill>
                  <a:srgbClr val="272525"/>
                </a:solidFill>
                <a:latin typeface="Inter" pitchFamily="34" charset="0"/>
                <a:ea typeface="Inter" pitchFamily="34" charset="-122"/>
                <a:cs typeface="Inter" pitchFamily="34" charset="-120"/>
              </a:rPr>
              <a:t>Once an ambulance is dispatched, SwiftAid transforms the waiting period from passive anxiety into active, informed coordination. Patients are never left in the dark.</a:t>
            </a:r>
            <a:endParaRPr lang="en-US" sz="450" dirty="0"/>
          </a:p>
        </p:txBody>
      </p:sp>
      <p:sp>
        <p:nvSpPr>
          <p:cNvPr id="4" name="Shape 2"/>
          <p:cNvSpPr/>
          <p:nvPr/>
        </p:nvSpPr>
        <p:spPr>
          <a:xfrm>
            <a:off x="496119" y="740941"/>
            <a:ext cx="1984623" cy="489124"/>
          </a:xfrm>
          <a:prstGeom prst="roundRect">
            <a:avLst>
              <a:gd name="adj" fmla="val 5326"/>
            </a:avLst>
          </a:prstGeom>
          <a:solidFill>
            <a:srgbClr val="DADBF1"/>
          </a:solidFill>
          <a:ln w="4763">
            <a:solidFill>
              <a:srgbClr val="C0C1D7"/>
            </a:solidFill>
            <a:prstDash val="solid"/>
          </a:ln>
        </p:spPr>
      </p:sp>
      <p:sp>
        <p:nvSpPr>
          <p:cNvPr id="5" name="Text 3"/>
          <p:cNvSpPr/>
          <p:nvPr/>
        </p:nvSpPr>
        <p:spPr>
          <a:xfrm>
            <a:off x="562868" y="807690"/>
            <a:ext cx="1851124" cy="101650"/>
          </a:xfrm>
          <a:prstGeom prst="rect">
            <a:avLst/>
          </a:prstGeom>
          <a:noFill/>
          <a:ln/>
        </p:spPr>
        <p:txBody>
          <a:bodyPr wrap="none" lIns="0" tIns="0" rIns="0" bIns="0" rtlCol="0" anchor="t"/>
          <a:lstStyle/>
          <a:p>
            <a:pPr marL="0" indent="0" algn="l">
              <a:lnSpc>
                <a:spcPct val="104000"/>
              </a:lnSpc>
              <a:buNone/>
            </a:pPr>
            <a:r>
              <a:rPr lang="en-US" sz="600" b="1"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600" b="1" dirty="0">
                <a:solidFill>
                  <a:srgbClr val="272525"/>
                </a:solidFill>
                <a:latin typeface="Inter Bold" pitchFamily="34" charset="0"/>
                <a:ea typeface="Inter Bold" pitchFamily="34" charset="-122"/>
                <a:cs typeface="Inter Bold" pitchFamily="34" charset="-120"/>
              </a:rPr>
              <a:t> Live GPS Polling</a:t>
            </a:r>
            <a:endParaRPr lang="en-US" sz="600" dirty="0"/>
          </a:p>
        </p:txBody>
      </p:sp>
      <p:sp>
        <p:nvSpPr>
          <p:cNvPr id="6" name="Text 4"/>
          <p:cNvSpPr/>
          <p:nvPr/>
        </p:nvSpPr>
        <p:spPr>
          <a:xfrm>
            <a:off x="562868" y="940296"/>
            <a:ext cx="1851124" cy="223019"/>
          </a:xfrm>
          <a:prstGeom prst="rect">
            <a:avLst/>
          </a:prstGeom>
          <a:noFill/>
          <a:ln/>
        </p:spPr>
        <p:txBody>
          <a:bodyPr wrap="square" lIns="0" tIns="0" rIns="0" bIns="0" rtlCol="0" anchor="t">
            <a:normAutofit/>
          </a:bodyPr>
          <a:lstStyle/>
          <a:p>
            <a:pPr marL="0" indent="0" algn="l">
              <a:lnSpc>
                <a:spcPct val="100000"/>
              </a:lnSpc>
              <a:buNone/>
            </a:pPr>
            <a:r>
              <a:rPr lang="en-US" sz="450" dirty="0">
                <a:solidFill>
                  <a:srgbClr val="272525"/>
                </a:solidFill>
                <a:latin typeface="Inter" pitchFamily="34" charset="0"/>
                <a:ea typeface="Inter" pitchFamily="34" charset="-122"/>
                <a:cs typeface="Inter" pitchFamily="34" charset="-120"/>
              </a:rPr>
              <a:t>The app uses </a:t>
            </a:r>
            <a:r>
              <a:rPr lang="en-US" sz="450" dirty="0">
                <a:solidFill>
                  <a:srgbClr val="272525"/>
                </a:solidFill>
                <a:highlight>
                  <a:srgbClr val="F2F2F2"/>
                </a:highlight>
                <a:latin typeface="Consolas" pitchFamily="34" charset="0"/>
                <a:ea typeface="Consolas" pitchFamily="34" charset="-122"/>
                <a:cs typeface="Consolas" pitchFamily="34" charset="-120"/>
              </a:rPr>
              <a:t>watchPosition</a:t>
            </a:r>
            <a:r>
              <a:rPr lang="en-US" sz="450" dirty="0">
                <a:solidFill>
                  <a:srgbClr val="272525"/>
                </a:solidFill>
                <a:latin typeface="Inter" pitchFamily="34" charset="0"/>
                <a:ea typeface="Inter" pitchFamily="34" charset="-122"/>
                <a:cs typeface="Inter" pitchFamily="34" charset="-120"/>
              </a:rPr>
              <a:t> to continuously stream the patient's live, moving coordinates to responders — even if the patient is being transported.</a:t>
            </a:r>
            <a:endParaRPr lang="en-US" sz="450" dirty="0"/>
          </a:p>
        </p:txBody>
      </p:sp>
      <p:sp>
        <p:nvSpPr>
          <p:cNvPr id="7" name="Shape 5"/>
          <p:cNvSpPr/>
          <p:nvPr/>
        </p:nvSpPr>
        <p:spPr>
          <a:xfrm>
            <a:off x="2511698" y="740941"/>
            <a:ext cx="1984697" cy="489124"/>
          </a:xfrm>
          <a:prstGeom prst="roundRect">
            <a:avLst>
              <a:gd name="adj" fmla="val 5326"/>
            </a:avLst>
          </a:prstGeom>
          <a:solidFill>
            <a:srgbClr val="DADBF1"/>
          </a:solidFill>
          <a:ln w="4763">
            <a:solidFill>
              <a:srgbClr val="C0C1D7"/>
            </a:solidFill>
            <a:prstDash val="solid"/>
          </a:ln>
        </p:spPr>
      </p:sp>
      <p:sp>
        <p:nvSpPr>
          <p:cNvPr id="8" name="Text 6"/>
          <p:cNvSpPr/>
          <p:nvPr/>
        </p:nvSpPr>
        <p:spPr>
          <a:xfrm>
            <a:off x="2578447" y="807690"/>
            <a:ext cx="1851199" cy="101650"/>
          </a:xfrm>
          <a:prstGeom prst="rect">
            <a:avLst/>
          </a:prstGeom>
          <a:noFill/>
          <a:ln/>
        </p:spPr>
        <p:txBody>
          <a:bodyPr wrap="none" lIns="0" tIns="0" rIns="0" bIns="0" rtlCol="0" anchor="t"/>
          <a:lstStyle/>
          <a:p>
            <a:pPr marL="0" indent="0" algn="l">
              <a:lnSpc>
                <a:spcPct val="104000"/>
              </a:lnSpc>
              <a:buNone/>
            </a:pPr>
            <a:r>
              <a:rPr lang="en-US" sz="600" b="1"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600" b="1" dirty="0">
                <a:solidFill>
                  <a:srgbClr val="272525"/>
                </a:solidFill>
                <a:latin typeface="Inter Bold" pitchFamily="34" charset="0"/>
                <a:ea typeface="Inter Bold" pitchFamily="34" charset="-122"/>
                <a:cs typeface="Inter Bold" pitchFamily="34" charset="-120"/>
              </a:rPr>
              <a:t> One-Click Call</a:t>
            </a:r>
            <a:endParaRPr lang="en-US" sz="600" dirty="0"/>
          </a:p>
        </p:txBody>
      </p:sp>
      <p:sp>
        <p:nvSpPr>
          <p:cNvPr id="9" name="Text 7"/>
          <p:cNvSpPr/>
          <p:nvPr/>
        </p:nvSpPr>
        <p:spPr>
          <a:xfrm>
            <a:off x="2578447" y="940296"/>
            <a:ext cx="1851199" cy="223019"/>
          </a:xfrm>
          <a:prstGeom prst="rect">
            <a:avLst/>
          </a:prstGeom>
          <a:noFill/>
          <a:ln/>
        </p:spPr>
        <p:txBody>
          <a:bodyPr wrap="square" lIns="0" tIns="0" rIns="0" bIns="0" rtlCol="0" anchor="t">
            <a:normAutofit/>
          </a:bodyPr>
          <a:lstStyle/>
          <a:p>
            <a:pPr marL="0" indent="0" algn="l">
              <a:lnSpc>
                <a:spcPct val="100000"/>
              </a:lnSpc>
              <a:buNone/>
            </a:pPr>
            <a:r>
              <a:rPr lang="en-US" sz="450" dirty="0">
                <a:solidFill>
                  <a:srgbClr val="272525"/>
                </a:solidFill>
                <a:latin typeface="Inter" pitchFamily="34" charset="0"/>
                <a:ea typeface="Inter" pitchFamily="34" charset="-122"/>
                <a:cs typeface="Inter" pitchFamily="34" charset="-120"/>
              </a:rPr>
              <a:t>A direct "Call Ambulance" button connects the patient to the dispatched driver or paramedic en route — no middleman, no delays.</a:t>
            </a:r>
            <a:endParaRPr lang="en-US" sz="450" dirty="0"/>
          </a:p>
        </p:txBody>
      </p:sp>
      <p:sp>
        <p:nvSpPr>
          <p:cNvPr id="10" name="Shape 8"/>
          <p:cNvSpPr/>
          <p:nvPr/>
        </p:nvSpPr>
        <p:spPr>
          <a:xfrm>
            <a:off x="496119" y="1261021"/>
            <a:ext cx="4000277" cy="414784"/>
          </a:xfrm>
          <a:prstGeom prst="roundRect">
            <a:avLst>
              <a:gd name="adj" fmla="val 6280"/>
            </a:avLst>
          </a:prstGeom>
          <a:solidFill>
            <a:srgbClr val="DADBF1"/>
          </a:solidFill>
          <a:ln w="4763">
            <a:solidFill>
              <a:srgbClr val="C0C1D7"/>
            </a:solidFill>
            <a:prstDash val="solid"/>
          </a:ln>
        </p:spPr>
      </p:sp>
      <p:sp>
        <p:nvSpPr>
          <p:cNvPr id="11" name="Text 9"/>
          <p:cNvSpPr/>
          <p:nvPr/>
        </p:nvSpPr>
        <p:spPr>
          <a:xfrm>
            <a:off x="562868" y="1327770"/>
            <a:ext cx="3866778" cy="101650"/>
          </a:xfrm>
          <a:prstGeom prst="rect">
            <a:avLst/>
          </a:prstGeom>
          <a:noFill/>
          <a:ln/>
        </p:spPr>
        <p:txBody>
          <a:bodyPr wrap="none" lIns="0" tIns="0" rIns="0" bIns="0" rtlCol="0" anchor="t"/>
          <a:lstStyle/>
          <a:p>
            <a:pPr marL="0" indent="0" algn="l">
              <a:lnSpc>
                <a:spcPct val="104000"/>
              </a:lnSpc>
              <a:buNone/>
            </a:pPr>
            <a:r>
              <a:rPr lang="en-US" sz="600" b="1"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600" b="1" dirty="0">
                <a:solidFill>
                  <a:srgbClr val="272525"/>
                </a:solidFill>
                <a:latin typeface="Inter Bold" pitchFamily="34" charset="0"/>
                <a:ea typeface="Inter Bold" pitchFamily="34" charset="-122"/>
                <a:cs typeface="Inter Bold" pitchFamily="34" charset="-120"/>
              </a:rPr>
              <a:t> Smart Status Handling</a:t>
            </a:r>
            <a:endParaRPr lang="en-US" sz="600" dirty="0"/>
          </a:p>
        </p:txBody>
      </p:sp>
      <p:sp>
        <p:nvSpPr>
          <p:cNvPr id="12" name="Text 10"/>
          <p:cNvSpPr/>
          <p:nvPr/>
        </p:nvSpPr>
        <p:spPr>
          <a:xfrm>
            <a:off x="562868" y="1460376"/>
            <a:ext cx="3866778" cy="148679"/>
          </a:xfrm>
          <a:prstGeom prst="rect">
            <a:avLst/>
          </a:prstGeom>
          <a:noFill/>
          <a:ln/>
        </p:spPr>
        <p:txBody>
          <a:bodyPr wrap="square" lIns="0" tIns="0" rIns="0" bIns="0" rtlCol="0" anchor="t">
            <a:normAutofit/>
          </a:bodyPr>
          <a:lstStyle/>
          <a:p>
            <a:pPr marL="0" indent="0" algn="l">
              <a:lnSpc>
                <a:spcPct val="100000"/>
              </a:lnSpc>
              <a:buNone/>
            </a:pPr>
            <a:r>
              <a:rPr lang="en-US" sz="450" dirty="0">
                <a:solidFill>
                  <a:srgbClr val="272525"/>
                </a:solidFill>
                <a:latin typeface="Inter" pitchFamily="34" charset="0"/>
                <a:ea typeface="Inter" pitchFamily="34" charset="-122"/>
                <a:cs typeface="Inter" pitchFamily="34" charset="-120"/>
              </a:rPr>
              <a:t>The app manages real-time emergency resolution and handles edge cases like "No Hospitals Available" instantly, rerouting without user intervention.</a:t>
            </a:r>
            <a:endParaRPr lang="en-US" sz="450" dirty="0"/>
          </a:p>
        </p:txBody>
      </p:sp>
      <p:pic>
        <p:nvPicPr>
          <p:cNvPr id="13" name="Image 0" descr="preencoded.png"/>
          <p:cNvPicPr>
            <a:picLocks noChangeAspect="1"/>
          </p:cNvPicPr>
          <p:nvPr/>
        </p:nvPicPr>
        <p:blipFill>
          <a:blip r:embed="rId3"/>
          <a:stretch>
            <a:fillRect/>
          </a:stretch>
        </p:blipFill>
        <p:spPr>
          <a:xfrm>
            <a:off x="4652367" y="740941"/>
            <a:ext cx="4000277" cy="4000277"/>
          </a:xfrm>
          <a:prstGeom prst="rect">
            <a:avLst/>
          </a:prstGeom>
        </p:spPr>
      </p:pic>
      <p:sp>
        <p:nvSpPr>
          <p:cNvPr id="14" name="Shape 11"/>
          <p:cNvSpPr/>
          <p:nvPr/>
        </p:nvSpPr>
        <p:spPr>
          <a:xfrm>
            <a:off x="496119" y="4810869"/>
            <a:ext cx="8151763" cy="312837"/>
          </a:xfrm>
          <a:prstGeom prst="roundRect">
            <a:avLst>
              <a:gd name="adj" fmla="val 8327"/>
            </a:avLst>
          </a:prstGeom>
          <a:solidFill>
            <a:srgbClr val="DADBF1"/>
          </a:solidFill>
          <a:ln/>
        </p:spPr>
      </p:sp>
      <p:pic>
        <p:nvPicPr>
          <p:cNvPr id="15" name="Image 1" descr="preencoded.png"/>
          <p:cNvPicPr>
            <a:picLocks noChangeAspect="1"/>
          </p:cNvPicPr>
          <p:nvPr/>
        </p:nvPicPr>
        <p:blipFill>
          <a:blip r:embed="rId4"/>
          <a:stretch>
            <a:fillRect/>
          </a:stretch>
        </p:blipFill>
        <p:spPr>
          <a:xfrm>
            <a:off x="558105" y="4888334"/>
            <a:ext cx="77465" cy="61987"/>
          </a:xfrm>
          <a:prstGeom prst="rect">
            <a:avLst/>
          </a:prstGeom>
        </p:spPr>
      </p:pic>
      <p:sp>
        <p:nvSpPr>
          <p:cNvPr id="16" name="Text 12"/>
          <p:cNvSpPr/>
          <p:nvPr/>
        </p:nvSpPr>
        <p:spPr>
          <a:xfrm>
            <a:off x="697557" y="4857304"/>
            <a:ext cx="7888337" cy="223019"/>
          </a:xfrm>
          <a:prstGeom prst="rect">
            <a:avLst/>
          </a:prstGeom>
          <a:noFill/>
          <a:ln/>
        </p:spPr>
        <p:txBody>
          <a:bodyPr wrap="square" lIns="0" tIns="0" rIns="0" bIns="0" rtlCol="0" anchor="t">
            <a:normAutofit/>
          </a:bodyPr>
          <a:lstStyle/>
          <a:p>
            <a:pPr marL="0" indent="0" algn="l">
              <a:lnSpc>
                <a:spcPct val="100000"/>
              </a:lnSpc>
              <a:buNone/>
            </a:pPr>
            <a:r>
              <a:rPr lang="en-US" sz="450" dirty="0">
                <a:solidFill>
                  <a:srgbClr val="000000"/>
                </a:solidFill>
                <a:latin typeface="Inter" pitchFamily="34" charset="0"/>
                <a:ea typeface="Inter" pitchFamily="34" charset="-122"/>
                <a:cs typeface="Inter" pitchFamily="34" charset="-120"/>
              </a:rPr>
              <a:t>🎤</a:t>
            </a:r>
            <a:r>
              <a:rPr lang="en-US" sz="450" b="1" dirty="0">
                <a:solidFill>
                  <a:srgbClr val="000000"/>
                </a:solidFill>
                <a:latin typeface="Inter Bold" pitchFamily="34" charset="0"/>
                <a:ea typeface="Inter Bold" pitchFamily="34" charset="-122"/>
                <a:cs typeface="Inter Bold" pitchFamily="34" charset="-120"/>
              </a:rPr>
              <a:t> Speaker Notes:</a:t>
            </a:r>
            <a:r>
              <a:rPr lang="en-US" sz="450" dirty="0">
                <a:solidFill>
                  <a:srgbClr val="000000"/>
                </a:solidFill>
                <a:latin typeface="Inter" pitchFamily="34" charset="0"/>
                <a:ea typeface="Inter" pitchFamily="34" charset="-122"/>
                <a:cs typeface="Inter" pitchFamily="34" charset="-120"/>
              </a:rPr>
              <a:t> Once the ambulance is dispatched, the experience doesn't stop. Our app uses watchPosition API to continuously stream the patient's live coordinates to responders — so even if the patient is moving, the ambulance always knows where to go. There's also a one-click call button that connects the patient directly to the paramedic en route — no going through a dispatcher. And our system intelligently handles edge cases. If the nearest hospital has no capacity, SwiftAid instantly reroutes to the next available facility. The patient never has to think about it.</a:t>
            </a:r>
            <a:endParaRPr lang="en-US" sz="450" dirty="0"/>
          </a:p>
        </p:txBody>
      </p:sp>
      <p:sp>
        <p:nvSpPr>
          <p:cNvPr id="18" name="Rectangle 17">
            <a:extLst>
              <a:ext uri="{FF2B5EF4-FFF2-40B4-BE49-F238E27FC236}">
                <a16:creationId xmlns:a16="http://schemas.microsoft.com/office/drawing/2014/main" id="{C487DC6F-44A6-1E05-C462-9748158CC6B7}"/>
              </a:ext>
            </a:extLst>
          </p:cNvPr>
          <p:cNvSpPr/>
          <p:nvPr/>
        </p:nvSpPr>
        <p:spPr>
          <a:xfrm>
            <a:off x="496119" y="4786078"/>
            <a:ext cx="8608964" cy="337628"/>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96119" y="341114"/>
            <a:ext cx="8151763" cy="193849"/>
          </a:xfrm>
          <a:prstGeom prst="rect">
            <a:avLst/>
          </a:prstGeom>
          <a:noFill/>
          <a:ln/>
        </p:spPr>
        <p:txBody>
          <a:bodyPr wrap="none" lIns="0" tIns="0" rIns="0" bIns="0" rtlCol="0" anchor="t"/>
          <a:lstStyle/>
          <a:p>
            <a:pPr marL="0" indent="0" algn="l">
              <a:lnSpc>
                <a:spcPct val="104000"/>
              </a:lnSpc>
              <a:buNone/>
            </a:pPr>
            <a:r>
              <a:rPr lang="en-US" sz="1200" b="1" dirty="0">
                <a:solidFill>
                  <a:srgbClr val="000000"/>
                </a:solidFill>
                <a:latin typeface="Inter Bold" pitchFamily="34" charset="0"/>
                <a:ea typeface="Inter Bold" pitchFamily="34" charset="-122"/>
                <a:cs typeface="Inter Bold" pitchFamily="34" charset="-120"/>
              </a:rPr>
              <a:t>Feature 3: Smart Dispatch &amp; AI Triaging</a:t>
            </a:r>
            <a:endParaRPr lang="en-US" sz="1200" dirty="0"/>
          </a:p>
        </p:txBody>
      </p:sp>
      <p:sp>
        <p:nvSpPr>
          <p:cNvPr id="3" name="Text 1"/>
          <p:cNvSpPr/>
          <p:nvPr/>
        </p:nvSpPr>
        <p:spPr>
          <a:xfrm>
            <a:off x="496119" y="596950"/>
            <a:ext cx="8608963" cy="74340"/>
          </a:xfrm>
          <a:prstGeom prst="rect">
            <a:avLst/>
          </a:prstGeom>
          <a:noFill/>
          <a:ln/>
        </p:spPr>
        <p:txBody>
          <a:bodyPr wrap="none" lIns="0" tIns="0" rIns="0" bIns="0" rtlCol="0" anchor="t"/>
          <a:lstStyle/>
          <a:p>
            <a:pPr marL="0" indent="0" algn="l">
              <a:lnSpc>
                <a:spcPct val="100000"/>
              </a:lnSpc>
              <a:buNone/>
            </a:pPr>
            <a:r>
              <a:rPr lang="en-US" sz="450" dirty="0">
                <a:solidFill>
                  <a:srgbClr val="272525"/>
                </a:solidFill>
                <a:latin typeface="Inter" pitchFamily="34" charset="0"/>
                <a:ea typeface="Inter" pitchFamily="34" charset="-122"/>
                <a:cs typeface="Inter" pitchFamily="34" charset="-120"/>
              </a:rPr>
              <a:t>The brain of SwiftAid is our intelligent dispatch algorithm. It eliminates human error and manual coordination, making the right decision in milliseconds — not minutes.</a:t>
            </a:r>
            <a:endParaRPr lang="en-US" sz="450" dirty="0"/>
          </a:p>
        </p:txBody>
      </p:sp>
      <p:pic>
        <p:nvPicPr>
          <p:cNvPr id="4" name="Image 0" descr="preencoded.png"/>
          <p:cNvPicPr>
            <a:picLocks noChangeAspect="1"/>
          </p:cNvPicPr>
          <p:nvPr/>
        </p:nvPicPr>
        <p:blipFill>
          <a:blip r:embed="rId3"/>
          <a:stretch>
            <a:fillRect/>
          </a:stretch>
        </p:blipFill>
        <p:spPr>
          <a:xfrm>
            <a:off x="496119" y="706115"/>
            <a:ext cx="7315200" cy="4114800"/>
          </a:xfrm>
          <a:prstGeom prst="rect">
            <a:avLst/>
          </a:prstGeom>
        </p:spPr>
      </p:pic>
      <p:sp>
        <p:nvSpPr>
          <p:cNvPr id="5" name="Text 2"/>
          <p:cNvSpPr/>
          <p:nvPr/>
        </p:nvSpPr>
        <p:spPr>
          <a:xfrm>
            <a:off x="496119" y="4855741"/>
            <a:ext cx="8608963" cy="74340"/>
          </a:xfrm>
          <a:prstGeom prst="rect">
            <a:avLst/>
          </a:prstGeom>
          <a:noFill/>
          <a:ln/>
        </p:spPr>
        <p:txBody>
          <a:bodyPr wrap="none" lIns="0" tIns="0" rIns="0" bIns="0" rtlCol="0" anchor="t"/>
          <a:lstStyle/>
          <a:p>
            <a:pPr marL="0" indent="0" algn="l">
              <a:lnSpc>
                <a:spcPct val="100000"/>
              </a:lnSpc>
              <a:buNone/>
            </a:pPr>
            <a:r>
              <a:rPr lang="en-US" sz="450" dirty="0">
                <a:solidFill>
                  <a:srgbClr val="272525"/>
                </a:solidFill>
                <a:latin typeface="Inter" pitchFamily="34" charset="0"/>
                <a:ea typeface="Inter" pitchFamily="34" charset="-122"/>
                <a:cs typeface="Inter" pitchFamily="34" charset="-120"/>
              </a:rPr>
              <a:t>Our backend automatically evaluates hospital bed capacity, ambulance availability, traffic conditions, and patient severity to make the optimal dispatch decision — every single time.</a:t>
            </a:r>
            <a:endParaRPr lang="en-US" sz="450" dirty="0"/>
          </a:p>
        </p:txBody>
      </p:sp>
      <p:sp>
        <p:nvSpPr>
          <p:cNvPr id="6" name="Shape 3"/>
          <p:cNvSpPr/>
          <p:nvPr/>
        </p:nvSpPr>
        <p:spPr>
          <a:xfrm>
            <a:off x="496119" y="4964906"/>
            <a:ext cx="8151763" cy="312837"/>
          </a:xfrm>
          <a:prstGeom prst="roundRect">
            <a:avLst>
              <a:gd name="adj" fmla="val 8327"/>
            </a:avLst>
          </a:prstGeom>
          <a:solidFill>
            <a:srgbClr val="DADBF1"/>
          </a:solidFill>
          <a:ln/>
        </p:spPr>
      </p:sp>
      <p:pic>
        <p:nvPicPr>
          <p:cNvPr id="7" name="Image 1" descr="preencoded.png"/>
          <p:cNvPicPr>
            <a:picLocks noChangeAspect="1"/>
          </p:cNvPicPr>
          <p:nvPr/>
        </p:nvPicPr>
        <p:blipFill>
          <a:blip r:embed="rId4"/>
          <a:stretch>
            <a:fillRect/>
          </a:stretch>
        </p:blipFill>
        <p:spPr>
          <a:xfrm>
            <a:off x="558105" y="5042371"/>
            <a:ext cx="77465" cy="61987"/>
          </a:xfrm>
          <a:prstGeom prst="rect">
            <a:avLst/>
          </a:prstGeom>
        </p:spPr>
      </p:pic>
      <p:sp>
        <p:nvSpPr>
          <p:cNvPr id="8" name="Text 4"/>
          <p:cNvSpPr/>
          <p:nvPr/>
        </p:nvSpPr>
        <p:spPr>
          <a:xfrm>
            <a:off x="697557" y="5011341"/>
            <a:ext cx="7888337" cy="223019"/>
          </a:xfrm>
          <a:prstGeom prst="rect">
            <a:avLst/>
          </a:prstGeom>
          <a:noFill/>
          <a:ln/>
        </p:spPr>
        <p:txBody>
          <a:bodyPr wrap="square" lIns="0" tIns="0" rIns="0" bIns="0" rtlCol="0" anchor="t">
            <a:normAutofit/>
          </a:bodyPr>
          <a:lstStyle/>
          <a:p>
            <a:pPr marL="0" indent="0" algn="l">
              <a:lnSpc>
                <a:spcPct val="100000"/>
              </a:lnSpc>
              <a:buNone/>
            </a:pPr>
            <a:r>
              <a:rPr lang="en-US" sz="450" dirty="0">
                <a:solidFill>
                  <a:srgbClr val="000000"/>
                </a:solidFill>
                <a:latin typeface="Inter" pitchFamily="34" charset="0"/>
                <a:ea typeface="Inter" pitchFamily="34" charset="-122"/>
                <a:cs typeface="Inter" pitchFamily="34" charset="-120"/>
              </a:rPr>
              <a:t>🎤</a:t>
            </a:r>
            <a:r>
              <a:rPr lang="en-US" sz="450" b="1" dirty="0">
                <a:solidFill>
                  <a:srgbClr val="000000"/>
                </a:solidFill>
                <a:latin typeface="Inter Bold" pitchFamily="34" charset="0"/>
                <a:ea typeface="Inter Bold" pitchFamily="34" charset="-122"/>
                <a:cs typeface="Inter Bold" pitchFamily="34" charset="-120"/>
              </a:rPr>
              <a:t> Speaker Notes:</a:t>
            </a:r>
            <a:r>
              <a:rPr lang="en-US" sz="450" dirty="0">
                <a:solidFill>
                  <a:srgbClr val="000000"/>
                </a:solidFill>
                <a:latin typeface="Inter" pitchFamily="34" charset="0"/>
                <a:ea typeface="Inter" pitchFamily="34" charset="-122"/>
                <a:cs typeface="Inter" pitchFamily="34" charset="-120"/>
              </a:rPr>
              <a:t> This is the intelligence layer of SwiftAid. When an SOS comes in, our backend doesn't just find the nearest hospital — it finds the nearest hospital WITH capacity. It checks real-time bed availability, assigns the closest available ambulance, and simultaneously alerts the ER team. All of this happens in milliseconds. There's no human dispatcher making manual calls, no radio chatter, no guessing. The algorithm considers patient severity, traffic, distance, and capacity to make the optimal decision every single time.</a:t>
            </a:r>
            <a:endParaRPr lang="en-US" sz="450" dirty="0"/>
          </a:p>
        </p:txBody>
      </p:sp>
      <p:sp>
        <p:nvSpPr>
          <p:cNvPr id="10" name="Rectangle 9">
            <a:extLst>
              <a:ext uri="{FF2B5EF4-FFF2-40B4-BE49-F238E27FC236}">
                <a16:creationId xmlns:a16="http://schemas.microsoft.com/office/drawing/2014/main" id="{B7730B08-8C70-DE52-E571-05701D12FF12}"/>
              </a:ext>
            </a:extLst>
          </p:cNvPr>
          <p:cNvSpPr/>
          <p:nvPr/>
        </p:nvSpPr>
        <p:spPr>
          <a:xfrm>
            <a:off x="8000806" y="4777219"/>
            <a:ext cx="1135270" cy="234122"/>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96119" y="369763"/>
            <a:ext cx="8151763" cy="363364"/>
          </a:xfrm>
          <a:prstGeom prst="rect">
            <a:avLst/>
          </a:prstGeom>
          <a:noFill/>
          <a:ln/>
        </p:spPr>
        <p:txBody>
          <a:bodyPr wrap="none" lIns="0" tIns="0" rIns="0" bIns="0" rtlCol="0" anchor="t"/>
          <a:lstStyle/>
          <a:p>
            <a:pPr marL="0" indent="0" algn="l">
              <a:lnSpc>
                <a:spcPct val="104000"/>
              </a:lnSpc>
              <a:buNone/>
            </a:pPr>
            <a:r>
              <a:rPr lang="en-US" sz="2250" b="1" dirty="0">
                <a:solidFill>
                  <a:srgbClr val="000000"/>
                </a:solidFill>
                <a:latin typeface="Inter Bold" pitchFamily="34" charset="0"/>
                <a:ea typeface="Inter Bold" pitchFamily="34" charset="-122"/>
                <a:cs typeface="Inter Bold" pitchFamily="34" charset="-120"/>
              </a:rPr>
              <a:t>Feature 4: Three Powerful Dashboards</a:t>
            </a:r>
            <a:endParaRPr lang="en-US" sz="2250" dirty="0"/>
          </a:p>
        </p:txBody>
      </p:sp>
      <p:sp>
        <p:nvSpPr>
          <p:cNvPr id="3" name="Text 1"/>
          <p:cNvSpPr/>
          <p:nvPr/>
        </p:nvSpPr>
        <p:spPr>
          <a:xfrm>
            <a:off x="496119" y="951161"/>
            <a:ext cx="8151763" cy="360462"/>
          </a:xfrm>
          <a:prstGeom prst="rect">
            <a:avLst/>
          </a:prstGeom>
          <a:noFill/>
          <a:ln/>
        </p:spPr>
        <p:txBody>
          <a:bodyPr wrap="square" lIns="0" tIns="0" rIns="0" bIns="0" rtlCol="0" anchor="t">
            <a:normAutofit/>
          </a:bodyPr>
          <a:lstStyle/>
          <a:p>
            <a:pPr marL="0" indent="0" algn="l">
              <a:lnSpc>
                <a:spcPct val="129000"/>
              </a:lnSpc>
              <a:buNone/>
            </a:pPr>
            <a:r>
              <a:rPr lang="en-US" sz="900" dirty="0">
                <a:solidFill>
                  <a:srgbClr val="272525"/>
                </a:solidFill>
                <a:latin typeface="Inter" pitchFamily="34" charset="0"/>
                <a:ea typeface="Inter" pitchFamily="34" charset="-122"/>
                <a:cs typeface="Inter" pitchFamily="34" charset="-120"/>
              </a:rPr>
              <a:t>SwiftAid serves every stakeholder in the emergency response chain with purpose-built, real-time dashboards — giving each user exactly the information and tools they need.</a:t>
            </a:r>
            <a:endParaRPr lang="en-US" sz="900" dirty="0"/>
          </a:p>
        </p:txBody>
      </p:sp>
      <p:pic>
        <p:nvPicPr>
          <p:cNvPr id="4" name="Image 0" descr="preencoded.png"/>
          <p:cNvPicPr>
            <a:picLocks noChangeAspect="1"/>
          </p:cNvPicPr>
          <p:nvPr/>
        </p:nvPicPr>
        <p:blipFill>
          <a:blip r:embed="rId3"/>
          <a:stretch>
            <a:fillRect/>
          </a:stretch>
        </p:blipFill>
        <p:spPr>
          <a:xfrm>
            <a:off x="496119" y="1434257"/>
            <a:ext cx="1523256" cy="941412"/>
          </a:xfrm>
          <a:prstGeom prst="rect">
            <a:avLst/>
          </a:prstGeom>
        </p:spPr>
      </p:pic>
      <p:sp>
        <p:nvSpPr>
          <p:cNvPr id="5" name="Text 2"/>
          <p:cNvSpPr/>
          <p:nvPr/>
        </p:nvSpPr>
        <p:spPr>
          <a:xfrm>
            <a:off x="496119" y="2511921"/>
            <a:ext cx="2626370" cy="186407"/>
          </a:xfrm>
          <a:prstGeom prst="rect">
            <a:avLst/>
          </a:prstGeom>
          <a:noFill/>
          <a:ln/>
        </p:spPr>
        <p:txBody>
          <a:bodyPr wrap="none" lIns="0" tIns="0" rIns="0" bIns="0" rtlCol="0" anchor="t"/>
          <a:lstStyle/>
          <a:p>
            <a:pPr marL="0" indent="0" algn="l">
              <a:lnSpc>
                <a:spcPct val="104000"/>
              </a:lnSpc>
              <a:buNone/>
            </a:pPr>
            <a:r>
              <a:rPr lang="en-US" sz="1100" b="1"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100" b="1" dirty="0">
                <a:solidFill>
                  <a:srgbClr val="272525"/>
                </a:solidFill>
                <a:latin typeface="Inter Bold" pitchFamily="34" charset="0"/>
                <a:ea typeface="Inter Bold" pitchFamily="34" charset="-122"/>
                <a:cs typeface="Inter Bold" pitchFamily="34" charset="-120"/>
              </a:rPr>
              <a:t> Hospital Dashboard</a:t>
            </a:r>
            <a:endParaRPr lang="en-US" sz="1100" dirty="0"/>
          </a:p>
        </p:txBody>
      </p:sp>
      <p:sp>
        <p:nvSpPr>
          <p:cNvPr id="6" name="Text 3"/>
          <p:cNvSpPr/>
          <p:nvPr/>
        </p:nvSpPr>
        <p:spPr>
          <a:xfrm>
            <a:off x="496119" y="2763738"/>
            <a:ext cx="2626370" cy="720923"/>
          </a:xfrm>
          <a:prstGeom prst="rect">
            <a:avLst/>
          </a:prstGeom>
          <a:noFill/>
          <a:ln/>
        </p:spPr>
        <p:txBody>
          <a:bodyPr wrap="square" lIns="0" tIns="0" rIns="0" bIns="0" rtlCol="0" anchor="t">
            <a:normAutofit/>
          </a:bodyPr>
          <a:lstStyle/>
          <a:p>
            <a:pPr marL="0" indent="0" algn="l">
              <a:lnSpc>
                <a:spcPct val="129000"/>
              </a:lnSpc>
              <a:buNone/>
            </a:pPr>
            <a:r>
              <a:rPr lang="en-US" sz="900" dirty="0">
                <a:solidFill>
                  <a:srgbClr val="272525"/>
                </a:solidFill>
                <a:latin typeface="Inter" pitchFamily="34" charset="0"/>
                <a:ea typeface="Inter" pitchFamily="34" charset="-122"/>
                <a:cs typeface="Inter" pitchFamily="34" charset="-120"/>
              </a:rPr>
              <a:t>Live incoming patient alerts let ER teams prepare before arrival. Real-time bed capacity management ensures no patient is turned away.</a:t>
            </a:r>
            <a:endParaRPr lang="en-US" sz="900" dirty="0"/>
          </a:p>
        </p:txBody>
      </p:sp>
      <p:pic>
        <p:nvPicPr>
          <p:cNvPr id="7" name="Image 1" descr="preencoded.png"/>
          <p:cNvPicPr>
            <a:picLocks noChangeAspect="1"/>
          </p:cNvPicPr>
          <p:nvPr/>
        </p:nvPicPr>
        <p:blipFill>
          <a:blip r:embed="rId4"/>
          <a:stretch>
            <a:fillRect/>
          </a:stretch>
        </p:blipFill>
        <p:spPr>
          <a:xfrm>
            <a:off x="3258741" y="1434257"/>
            <a:ext cx="1523330" cy="941487"/>
          </a:xfrm>
          <a:prstGeom prst="rect">
            <a:avLst/>
          </a:prstGeom>
        </p:spPr>
      </p:pic>
      <p:sp>
        <p:nvSpPr>
          <p:cNvPr id="8" name="Text 4"/>
          <p:cNvSpPr/>
          <p:nvPr/>
        </p:nvSpPr>
        <p:spPr>
          <a:xfrm>
            <a:off x="3258741" y="2511996"/>
            <a:ext cx="2626444" cy="186407"/>
          </a:xfrm>
          <a:prstGeom prst="rect">
            <a:avLst/>
          </a:prstGeom>
          <a:noFill/>
          <a:ln/>
        </p:spPr>
        <p:txBody>
          <a:bodyPr wrap="none" lIns="0" tIns="0" rIns="0" bIns="0" rtlCol="0" anchor="t"/>
          <a:lstStyle/>
          <a:p>
            <a:pPr marL="0" indent="0" algn="l">
              <a:lnSpc>
                <a:spcPct val="104000"/>
              </a:lnSpc>
              <a:buNone/>
            </a:pPr>
            <a:r>
              <a:rPr lang="en-US" sz="1100" b="1"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100" b="1" dirty="0">
                <a:solidFill>
                  <a:srgbClr val="272525"/>
                </a:solidFill>
                <a:latin typeface="Inter Bold" pitchFamily="34" charset="0"/>
                <a:ea typeface="Inter Bold" pitchFamily="34" charset="-122"/>
                <a:cs typeface="Inter Bold" pitchFamily="34" charset="-120"/>
              </a:rPr>
              <a:t> Ambulance Dashboard</a:t>
            </a:r>
            <a:endParaRPr lang="en-US" sz="1100" dirty="0"/>
          </a:p>
        </p:txBody>
      </p:sp>
      <p:sp>
        <p:nvSpPr>
          <p:cNvPr id="9" name="Text 5"/>
          <p:cNvSpPr/>
          <p:nvPr/>
        </p:nvSpPr>
        <p:spPr>
          <a:xfrm>
            <a:off x="3258741" y="2763813"/>
            <a:ext cx="2626444" cy="720923"/>
          </a:xfrm>
          <a:prstGeom prst="rect">
            <a:avLst/>
          </a:prstGeom>
          <a:noFill/>
          <a:ln/>
        </p:spPr>
        <p:txBody>
          <a:bodyPr wrap="square" lIns="0" tIns="0" rIns="0" bIns="0" rtlCol="0" anchor="t">
            <a:normAutofit/>
          </a:bodyPr>
          <a:lstStyle/>
          <a:p>
            <a:pPr marL="0" indent="0" algn="l">
              <a:lnSpc>
                <a:spcPct val="129000"/>
              </a:lnSpc>
              <a:buNone/>
            </a:pPr>
            <a:r>
              <a:rPr lang="en-US" sz="900" dirty="0">
                <a:solidFill>
                  <a:srgbClr val="272525"/>
                </a:solidFill>
                <a:latin typeface="Inter" pitchFamily="34" charset="0"/>
                <a:ea typeface="Inter" pitchFamily="34" charset="-122"/>
                <a:cs typeface="Inter" pitchFamily="34" charset="-120"/>
              </a:rPr>
              <a:t>Turn-by-turn GPS routing to the patient, full access to pre-saved medical details, and direct contact with the destination hospital — all in one view.</a:t>
            </a:r>
            <a:endParaRPr lang="en-US" sz="900" dirty="0"/>
          </a:p>
        </p:txBody>
      </p:sp>
      <p:pic>
        <p:nvPicPr>
          <p:cNvPr id="10" name="Image 2" descr="preencoded.png"/>
          <p:cNvPicPr>
            <a:picLocks noChangeAspect="1"/>
          </p:cNvPicPr>
          <p:nvPr/>
        </p:nvPicPr>
        <p:blipFill>
          <a:blip r:embed="rId5"/>
          <a:stretch>
            <a:fillRect/>
          </a:stretch>
        </p:blipFill>
        <p:spPr>
          <a:xfrm>
            <a:off x="6021437" y="1434257"/>
            <a:ext cx="1523330" cy="941487"/>
          </a:xfrm>
          <a:prstGeom prst="rect">
            <a:avLst/>
          </a:prstGeom>
        </p:spPr>
      </p:pic>
      <p:sp>
        <p:nvSpPr>
          <p:cNvPr id="11" name="Text 6"/>
          <p:cNvSpPr/>
          <p:nvPr/>
        </p:nvSpPr>
        <p:spPr>
          <a:xfrm>
            <a:off x="6021437" y="2511996"/>
            <a:ext cx="2626444" cy="186407"/>
          </a:xfrm>
          <a:prstGeom prst="rect">
            <a:avLst/>
          </a:prstGeom>
          <a:noFill/>
          <a:ln/>
        </p:spPr>
        <p:txBody>
          <a:bodyPr wrap="none" lIns="0" tIns="0" rIns="0" bIns="0" rtlCol="0" anchor="t"/>
          <a:lstStyle/>
          <a:p>
            <a:pPr marL="0" indent="0" algn="l">
              <a:lnSpc>
                <a:spcPct val="104000"/>
              </a:lnSpc>
              <a:buNone/>
            </a:pPr>
            <a:r>
              <a:rPr lang="en-US" sz="1100" b="1"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100" b="1" dirty="0">
                <a:solidFill>
                  <a:srgbClr val="272525"/>
                </a:solidFill>
                <a:latin typeface="Inter Bold" pitchFamily="34" charset="0"/>
                <a:ea typeface="Inter Bold" pitchFamily="34" charset="-122"/>
                <a:cs typeface="Inter Bold" pitchFamily="34" charset="-120"/>
              </a:rPr>
              <a:t> Admin Dashboard</a:t>
            </a:r>
            <a:endParaRPr lang="en-US" sz="1100" dirty="0"/>
          </a:p>
        </p:txBody>
      </p:sp>
      <p:sp>
        <p:nvSpPr>
          <p:cNvPr id="12" name="Text 7"/>
          <p:cNvSpPr/>
          <p:nvPr/>
        </p:nvSpPr>
        <p:spPr>
          <a:xfrm>
            <a:off x="6021437" y="2763813"/>
            <a:ext cx="2626444" cy="720923"/>
          </a:xfrm>
          <a:prstGeom prst="rect">
            <a:avLst/>
          </a:prstGeom>
          <a:noFill/>
          <a:ln/>
        </p:spPr>
        <p:txBody>
          <a:bodyPr wrap="square" lIns="0" tIns="0" rIns="0" bIns="0" rtlCol="0" anchor="t">
            <a:normAutofit/>
          </a:bodyPr>
          <a:lstStyle/>
          <a:p>
            <a:pPr marL="0" indent="0" algn="l">
              <a:lnSpc>
                <a:spcPct val="129000"/>
              </a:lnSpc>
              <a:buNone/>
            </a:pPr>
            <a:r>
              <a:rPr lang="en-US" sz="900" dirty="0">
                <a:solidFill>
                  <a:srgbClr val="272525"/>
                </a:solidFill>
                <a:latin typeface="Inter" pitchFamily="34" charset="0"/>
                <a:ea typeface="Inter" pitchFamily="34" charset="-122"/>
                <a:cs typeface="Inter" pitchFamily="34" charset="-120"/>
              </a:rPr>
              <a:t>A bird's-eye view of the entire city's emergency ecosystem — fleet management, response time analytics, and system-wide health monitoring.</a:t>
            </a:r>
            <a:endParaRPr lang="en-US" sz="900" dirty="0"/>
          </a:p>
        </p:txBody>
      </p:sp>
      <p:sp>
        <p:nvSpPr>
          <p:cNvPr id="13" name="Shape 8"/>
          <p:cNvSpPr/>
          <p:nvPr/>
        </p:nvSpPr>
        <p:spPr>
          <a:xfrm>
            <a:off x="496119" y="3607371"/>
            <a:ext cx="8151763" cy="1166292"/>
          </a:xfrm>
          <a:prstGeom prst="roundRect">
            <a:avLst>
              <a:gd name="adj" fmla="val 4188"/>
            </a:avLst>
          </a:prstGeom>
          <a:solidFill>
            <a:srgbClr val="DADBF1"/>
          </a:solidFill>
          <a:ln/>
        </p:spPr>
      </p:sp>
      <p:pic>
        <p:nvPicPr>
          <p:cNvPr id="14" name="Image 3" descr="preencoded.png"/>
          <p:cNvPicPr>
            <a:picLocks noChangeAspect="1"/>
          </p:cNvPicPr>
          <p:nvPr/>
        </p:nvPicPr>
        <p:blipFill>
          <a:blip r:embed="rId6"/>
          <a:stretch>
            <a:fillRect/>
          </a:stretch>
        </p:blipFill>
        <p:spPr>
          <a:xfrm>
            <a:off x="612353" y="3769965"/>
            <a:ext cx="145331" cy="116235"/>
          </a:xfrm>
          <a:prstGeom prst="rect">
            <a:avLst/>
          </a:prstGeom>
        </p:spPr>
      </p:pic>
      <p:sp>
        <p:nvSpPr>
          <p:cNvPr id="15" name="Text 9"/>
          <p:cNvSpPr/>
          <p:nvPr/>
        </p:nvSpPr>
        <p:spPr>
          <a:xfrm>
            <a:off x="873919" y="3745409"/>
            <a:ext cx="7657728" cy="901154"/>
          </a:xfrm>
          <a:prstGeom prst="rect">
            <a:avLst/>
          </a:prstGeom>
          <a:noFill/>
          <a:ln/>
        </p:spPr>
        <p:txBody>
          <a:bodyPr wrap="square" lIns="0" tIns="0" rIns="0" bIns="0" rtlCol="0" anchor="t">
            <a:normAutofit/>
          </a:bodyPr>
          <a:lstStyle/>
          <a:p>
            <a:pPr marL="0" indent="0" algn="l">
              <a:lnSpc>
                <a:spcPct val="129000"/>
              </a:lnSpc>
              <a:buNone/>
            </a:pPr>
            <a:r>
              <a:rPr lang="en-US" sz="900" dirty="0">
                <a:solidFill>
                  <a:srgbClr val="000000"/>
                </a:solidFill>
                <a:latin typeface="Inter" pitchFamily="34" charset="0"/>
                <a:ea typeface="Inter" pitchFamily="34" charset="-122"/>
                <a:cs typeface="Inter" pitchFamily="34" charset="-120"/>
              </a:rPr>
              <a:t>🎤</a:t>
            </a:r>
            <a:r>
              <a:rPr lang="en-US" sz="900" b="1" dirty="0">
                <a:solidFill>
                  <a:srgbClr val="000000"/>
                </a:solidFill>
                <a:latin typeface="Inter Bold" pitchFamily="34" charset="0"/>
                <a:ea typeface="Inter Bold" pitchFamily="34" charset="-122"/>
                <a:cs typeface="Inter Bold" pitchFamily="34" charset="-120"/>
              </a:rPr>
              <a:t> Speaker Notes:</a:t>
            </a:r>
            <a:r>
              <a:rPr lang="en-US" sz="900" dirty="0">
                <a:solidFill>
                  <a:srgbClr val="000000"/>
                </a:solidFill>
                <a:latin typeface="Inter" pitchFamily="34" charset="0"/>
                <a:ea typeface="Inter" pitchFamily="34" charset="-122"/>
                <a:cs typeface="Inter" pitchFamily="34" charset="-120"/>
              </a:rPr>
              <a:t> SwiftAid has three purpose-built dashboards. The Hospital Dashboard gives ER teams live alerts of incoming patients — so they can prep the trauma bay and manage bed capacity before the patient even arrives. The Ambulance Dashboard gives paramedics turn-by-turn routing, the patient's full medical profile, and a direct line to the receiving hospital. And the Admin Dashboard gives city-level operators a bird's-eye view of the entire emergency ecosystem — fleet status, response time analytics, and system health. Every stakeholder has exactly what they need, when they need it.</a:t>
            </a:r>
            <a:endParaRPr lang="en-US" sz="900" dirty="0"/>
          </a:p>
        </p:txBody>
      </p:sp>
      <p:sp>
        <p:nvSpPr>
          <p:cNvPr id="17" name="Rectangle 16">
            <a:extLst>
              <a:ext uri="{FF2B5EF4-FFF2-40B4-BE49-F238E27FC236}">
                <a16:creationId xmlns:a16="http://schemas.microsoft.com/office/drawing/2014/main" id="{911D593A-0FC6-8D0B-EEAE-AF2156CBA838}"/>
              </a:ext>
            </a:extLst>
          </p:cNvPr>
          <p:cNvSpPr/>
          <p:nvPr/>
        </p:nvSpPr>
        <p:spPr>
          <a:xfrm>
            <a:off x="8008730" y="4845878"/>
            <a:ext cx="1135270" cy="234122"/>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96119" y="341114"/>
            <a:ext cx="8151763" cy="193849"/>
          </a:xfrm>
          <a:prstGeom prst="rect">
            <a:avLst/>
          </a:prstGeom>
          <a:noFill/>
          <a:ln/>
        </p:spPr>
        <p:txBody>
          <a:bodyPr wrap="none" lIns="0" tIns="0" rIns="0" bIns="0" rtlCol="0" anchor="t"/>
          <a:lstStyle/>
          <a:p>
            <a:pPr marL="0" indent="0" algn="l">
              <a:lnSpc>
                <a:spcPct val="104000"/>
              </a:lnSpc>
              <a:buNone/>
            </a:pPr>
            <a:r>
              <a:rPr lang="en-US" sz="1200" b="1" dirty="0">
                <a:solidFill>
                  <a:srgbClr val="000000"/>
                </a:solidFill>
                <a:latin typeface="Inter Bold" pitchFamily="34" charset="0"/>
                <a:ea typeface="Inter Bold" pitchFamily="34" charset="-122"/>
                <a:cs typeface="Inter Bold" pitchFamily="34" charset="-120"/>
              </a:rPr>
              <a:t>Built on a Modern, Scalable Tech Stack</a:t>
            </a:r>
            <a:endParaRPr lang="en-US" sz="1200" dirty="0"/>
          </a:p>
        </p:txBody>
      </p:sp>
      <p:sp>
        <p:nvSpPr>
          <p:cNvPr id="3" name="Text 1"/>
          <p:cNvSpPr/>
          <p:nvPr/>
        </p:nvSpPr>
        <p:spPr>
          <a:xfrm>
            <a:off x="496119" y="596950"/>
            <a:ext cx="8608963" cy="74340"/>
          </a:xfrm>
          <a:prstGeom prst="rect">
            <a:avLst/>
          </a:prstGeom>
          <a:noFill/>
          <a:ln/>
        </p:spPr>
        <p:txBody>
          <a:bodyPr wrap="none" lIns="0" tIns="0" rIns="0" bIns="0" rtlCol="0" anchor="t"/>
          <a:lstStyle/>
          <a:p>
            <a:pPr marL="0" indent="0" algn="l">
              <a:lnSpc>
                <a:spcPct val="100000"/>
              </a:lnSpc>
              <a:buNone/>
            </a:pPr>
            <a:r>
              <a:rPr lang="en-US" sz="450" dirty="0">
                <a:solidFill>
                  <a:srgbClr val="272525"/>
                </a:solidFill>
                <a:latin typeface="Inter" pitchFamily="34" charset="0"/>
                <a:ea typeface="Inter" pitchFamily="34" charset="-122"/>
                <a:cs typeface="Inter" pitchFamily="34" charset="-120"/>
              </a:rPr>
              <a:t>SwiftAid is engineered for performance, reliability, and scale — using battle-tested technologies chosen specifically for real-time, geospatial, and high-availability requirements.</a:t>
            </a:r>
            <a:endParaRPr lang="en-US" sz="45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6119" y="740941"/>
            <a:ext cx="4000277" cy="574551"/>
          </a:xfrm>
          <a:prstGeom prst="rect">
            <a:avLst/>
          </a:prstGeom>
        </p:spPr>
      </p:pic>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49711" y="794593"/>
            <a:ext cx="93018" cy="93018"/>
          </a:xfrm>
          <a:prstGeom prst="rect">
            <a:avLst/>
          </a:prstGeom>
        </p:spPr>
      </p:pic>
      <p:sp>
        <p:nvSpPr>
          <p:cNvPr id="6" name="Text 2"/>
          <p:cNvSpPr/>
          <p:nvPr/>
        </p:nvSpPr>
        <p:spPr>
          <a:xfrm>
            <a:off x="567630" y="967457"/>
            <a:ext cx="3857253" cy="96887"/>
          </a:xfrm>
          <a:prstGeom prst="rect">
            <a:avLst/>
          </a:prstGeom>
          <a:noFill/>
          <a:ln/>
        </p:spPr>
        <p:txBody>
          <a:bodyPr wrap="none" lIns="0" tIns="0" rIns="0" bIns="0" rtlCol="0" anchor="t"/>
          <a:lstStyle/>
          <a:p>
            <a:pPr marL="0" indent="0" algn="l">
              <a:lnSpc>
                <a:spcPct val="104000"/>
              </a:lnSpc>
              <a:buNone/>
            </a:pPr>
            <a:r>
              <a:rPr lang="en-US" sz="600" b="1" dirty="0">
                <a:solidFill>
                  <a:srgbClr val="272525"/>
                </a:solidFill>
                <a:latin typeface="Inter Bold" pitchFamily="34" charset="0"/>
                <a:ea typeface="Inter Bold" pitchFamily="34" charset="-122"/>
                <a:cs typeface="Inter Bold" pitchFamily="34" charset="-120"/>
              </a:rPr>
              <a:t>Frontend</a:t>
            </a:r>
            <a:endParaRPr lang="en-US" sz="600" dirty="0"/>
          </a:p>
        </p:txBody>
      </p:sp>
      <p:sp>
        <p:nvSpPr>
          <p:cNvPr id="7" name="Text 3"/>
          <p:cNvSpPr/>
          <p:nvPr/>
        </p:nvSpPr>
        <p:spPr>
          <a:xfrm>
            <a:off x="567630" y="1095301"/>
            <a:ext cx="3857253" cy="148679"/>
          </a:xfrm>
          <a:prstGeom prst="rect">
            <a:avLst/>
          </a:prstGeom>
          <a:noFill/>
          <a:ln/>
        </p:spPr>
        <p:txBody>
          <a:bodyPr wrap="square" lIns="0" tIns="0" rIns="0" bIns="0" rtlCol="0" anchor="t">
            <a:normAutofit/>
          </a:bodyPr>
          <a:lstStyle/>
          <a:p>
            <a:pPr marL="0" indent="0" algn="l">
              <a:lnSpc>
                <a:spcPct val="100000"/>
              </a:lnSpc>
              <a:buNone/>
            </a:pPr>
            <a:r>
              <a:rPr lang="en-US" sz="450" b="1" dirty="0">
                <a:solidFill>
                  <a:srgbClr val="272525"/>
                </a:solidFill>
                <a:latin typeface="Inter Bold" pitchFamily="34" charset="0"/>
                <a:ea typeface="Inter Bold" pitchFamily="34" charset="-122"/>
                <a:cs typeface="Inter Bold" pitchFamily="34" charset="-120"/>
              </a:rPr>
              <a:t>React.js + Vite</a:t>
            </a:r>
            <a:r>
              <a:rPr lang="en-US" sz="450" dirty="0">
                <a:solidFill>
                  <a:srgbClr val="272525"/>
                </a:solidFill>
                <a:latin typeface="Inter" pitchFamily="34" charset="0"/>
                <a:ea typeface="Inter" pitchFamily="34" charset="-122"/>
                <a:cs typeface="Inter" pitchFamily="34" charset="-120"/>
              </a:rPr>
              <a:t> for blazing-fast load times. </a:t>
            </a:r>
            <a:r>
              <a:rPr lang="en-US" sz="450" b="1" dirty="0">
                <a:solidFill>
                  <a:srgbClr val="272525"/>
                </a:solidFill>
                <a:latin typeface="Inter Bold" pitchFamily="34" charset="0"/>
                <a:ea typeface="Inter Bold" pitchFamily="34" charset="-122"/>
                <a:cs typeface="Inter Bold" pitchFamily="34" charset="-120"/>
              </a:rPr>
              <a:t>Lucide-React</a:t>
            </a:r>
            <a:r>
              <a:rPr lang="en-US" sz="450" dirty="0">
                <a:solidFill>
                  <a:srgbClr val="272525"/>
                </a:solidFill>
                <a:latin typeface="Inter" pitchFamily="34" charset="0"/>
                <a:ea typeface="Inter" pitchFamily="34" charset="-122"/>
                <a:cs typeface="Inter" pitchFamily="34" charset="-120"/>
              </a:rPr>
              <a:t> icons. Glassmorphism UI design for a modern, intuitive experience across all devices.</a:t>
            </a:r>
            <a:endParaRPr lang="en-US" sz="450" dirty="0"/>
          </a:p>
        </p:txBody>
      </p:sp>
      <p:pic>
        <p:nvPicPr>
          <p:cNvPr id="8"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6119" y="1346448"/>
            <a:ext cx="4000277" cy="574551"/>
          </a:xfrm>
          <a:prstGeom prst="rect">
            <a:avLst/>
          </a:prstGeom>
        </p:spPr>
      </p:pic>
      <p:pic>
        <p:nvPicPr>
          <p:cNvPr id="9" name="Image 3"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449711" y="1400101"/>
            <a:ext cx="93018" cy="93018"/>
          </a:xfrm>
          <a:prstGeom prst="rect">
            <a:avLst/>
          </a:prstGeom>
        </p:spPr>
      </p:pic>
      <p:sp>
        <p:nvSpPr>
          <p:cNvPr id="10" name="Text 4"/>
          <p:cNvSpPr/>
          <p:nvPr/>
        </p:nvSpPr>
        <p:spPr>
          <a:xfrm>
            <a:off x="567630" y="1572964"/>
            <a:ext cx="3857253" cy="96887"/>
          </a:xfrm>
          <a:prstGeom prst="rect">
            <a:avLst/>
          </a:prstGeom>
          <a:noFill/>
          <a:ln/>
        </p:spPr>
        <p:txBody>
          <a:bodyPr wrap="none" lIns="0" tIns="0" rIns="0" bIns="0" rtlCol="0" anchor="t"/>
          <a:lstStyle/>
          <a:p>
            <a:pPr marL="0" indent="0" algn="l">
              <a:lnSpc>
                <a:spcPct val="104000"/>
              </a:lnSpc>
              <a:buNone/>
            </a:pPr>
            <a:r>
              <a:rPr lang="en-US" sz="600" b="1" dirty="0">
                <a:solidFill>
                  <a:srgbClr val="272525"/>
                </a:solidFill>
                <a:latin typeface="Inter Bold" pitchFamily="34" charset="0"/>
                <a:ea typeface="Inter Bold" pitchFamily="34" charset="-122"/>
                <a:cs typeface="Inter Bold" pitchFamily="34" charset="-120"/>
              </a:rPr>
              <a:t>Backend</a:t>
            </a:r>
            <a:endParaRPr lang="en-US" sz="600" dirty="0"/>
          </a:p>
        </p:txBody>
      </p:sp>
      <p:sp>
        <p:nvSpPr>
          <p:cNvPr id="11" name="Text 5"/>
          <p:cNvSpPr/>
          <p:nvPr/>
        </p:nvSpPr>
        <p:spPr>
          <a:xfrm>
            <a:off x="567630" y="1700808"/>
            <a:ext cx="3857253" cy="148679"/>
          </a:xfrm>
          <a:prstGeom prst="rect">
            <a:avLst/>
          </a:prstGeom>
          <a:noFill/>
          <a:ln/>
        </p:spPr>
        <p:txBody>
          <a:bodyPr wrap="square" lIns="0" tIns="0" rIns="0" bIns="0" rtlCol="0" anchor="t">
            <a:normAutofit/>
          </a:bodyPr>
          <a:lstStyle/>
          <a:p>
            <a:pPr marL="0" indent="0" algn="l">
              <a:lnSpc>
                <a:spcPct val="100000"/>
              </a:lnSpc>
              <a:buNone/>
            </a:pPr>
            <a:r>
              <a:rPr lang="en-US" sz="450" b="1" dirty="0">
                <a:solidFill>
                  <a:srgbClr val="272525"/>
                </a:solidFill>
                <a:latin typeface="Inter Bold" pitchFamily="34" charset="0"/>
                <a:ea typeface="Inter Bold" pitchFamily="34" charset="-122"/>
                <a:cs typeface="Inter Bold" pitchFamily="34" charset="-120"/>
              </a:rPr>
              <a:t>Node.js / Python REST APIs</a:t>
            </a:r>
            <a:r>
              <a:rPr lang="en-US" sz="450" dirty="0">
                <a:solidFill>
                  <a:srgbClr val="272525"/>
                </a:solidFill>
                <a:latin typeface="Inter" pitchFamily="34" charset="0"/>
                <a:ea typeface="Inter" pitchFamily="34" charset="-122"/>
                <a:cs typeface="Inter" pitchFamily="34" charset="-120"/>
              </a:rPr>
              <a:t> powering the dispatch engine, AI triage logic, and real-time communication layer between all three dashboards.</a:t>
            </a:r>
            <a:endParaRPr lang="en-US" sz="450" dirty="0"/>
          </a:p>
        </p:txBody>
      </p:sp>
      <p:pic>
        <p:nvPicPr>
          <p:cNvPr id="12" name="Image 4"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6119" y="1951955"/>
            <a:ext cx="4000277" cy="574551"/>
          </a:xfrm>
          <a:prstGeom prst="rect">
            <a:avLst/>
          </a:prstGeom>
        </p:spPr>
      </p:pic>
      <p:pic>
        <p:nvPicPr>
          <p:cNvPr id="13" name="Image 5"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449711" y="2005608"/>
            <a:ext cx="93018" cy="93018"/>
          </a:xfrm>
          <a:prstGeom prst="rect">
            <a:avLst/>
          </a:prstGeom>
        </p:spPr>
      </p:pic>
      <p:sp>
        <p:nvSpPr>
          <p:cNvPr id="14" name="Text 6"/>
          <p:cNvSpPr/>
          <p:nvPr/>
        </p:nvSpPr>
        <p:spPr>
          <a:xfrm>
            <a:off x="567630" y="2178472"/>
            <a:ext cx="3857253" cy="96887"/>
          </a:xfrm>
          <a:prstGeom prst="rect">
            <a:avLst/>
          </a:prstGeom>
          <a:noFill/>
          <a:ln/>
        </p:spPr>
        <p:txBody>
          <a:bodyPr wrap="none" lIns="0" tIns="0" rIns="0" bIns="0" rtlCol="0" anchor="t"/>
          <a:lstStyle/>
          <a:p>
            <a:pPr marL="0" indent="0" algn="l">
              <a:lnSpc>
                <a:spcPct val="104000"/>
              </a:lnSpc>
              <a:buNone/>
            </a:pPr>
            <a:r>
              <a:rPr lang="en-US" sz="600" b="1" dirty="0">
                <a:solidFill>
                  <a:srgbClr val="272525"/>
                </a:solidFill>
                <a:latin typeface="Inter Bold" pitchFamily="34" charset="0"/>
                <a:ea typeface="Inter Bold" pitchFamily="34" charset="-122"/>
                <a:cs typeface="Inter Bold" pitchFamily="34" charset="-120"/>
              </a:rPr>
              <a:t>Database</a:t>
            </a:r>
            <a:endParaRPr lang="en-US" sz="600" dirty="0"/>
          </a:p>
        </p:txBody>
      </p:sp>
      <p:sp>
        <p:nvSpPr>
          <p:cNvPr id="15" name="Text 7"/>
          <p:cNvSpPr/>
          <p:nvPr/>
        </p:nvSpPr>
        <p:spPr>
          <a:xfrm>
            <a:off x="567630" y="2306315"/>
            <a:ext cx="3857253" cy="148679"/>
          </a:xfrm>
          <a:prstGeom prst="rect">
            <a:avLst/>
          </a:prstGeom>
          <a:noFill/>
          <a:ln/>
        </p:spPr>
        <p:txBody>
          <a:bodyPr wrap="square" lIns="0" tIns="0" rIns="0" bIns="0" rtlCol="0" anchor="t">
            <a:normAutofit/>
          </a:bodyPr>
          <a:lstStyle/>
          <a:p>
            <a:pPr marL="0" indent="0" algn="l">
              <a:lnSpc>
                <a:spcPct val="100000"/>
              </a:lnSpc>
              <a:buNone/>
            </a:pPr>
            <a:r>
              <a:rPr lang="en-US" sz="450" b="1" dirty="0">
                <a:solidFill>
                  <a:srgbClr val="272525"/>
                </a:solidFill>
                <a:latin typeface="Inter Bold" pitchFamily="34" charset="0"/>
                <a:ea typeface="Inter Bold" pitchFamily="34" charset="-122"/>
                <a:cs typeface="Inter Bold" pitchFamily="34" charset="-120"/>
              </a:rPr>
              <a:t>MongoDB</a:t>
            </a:r>
            <a:r>
              <a:rPr lang="en-US" sz="450" dirty="0">
                <a:solidFill>
                  <a:srgbClr val="272525"/>
                </a:solidFill>
                <a:latin typeface="Inter" pitchFamily="34" charset="0"/>
                <a:ea typeface="Inter" pitchFamily="34" charset="-122"/>
                <a:cs typeface="Inter" pitchFamily="34" charset="-120"/>
              </a:rPr>
              <a:t> with native geospatial query support for location-based ambulance and hospital matching, plus real-time data handling for live tracking.</a:t>
            </a:r>
            <a:endParaRPr lang="en-US" sz="450" dirty="0"/>
          </a:p>
        </p:txBody>
      </p:sp>
      <p:pic>
        <p:nvPicPr>
          <p:cNvPr id="16" name="Image 6" descr="preencoded.png"/>
          <p:cNvPicPr>
            <a:picLocks noChangeAspect="1"/>
          </p:cNvPicPr>
          <p:nvPr/>
        </p:nvPicPr>
        <p:blipFill>
          <a:blip r:embed="rId7"/>
          <a:stretch>
            <a:fillRect/>
          </a:stretch>
        </p:blipFill>
        <p:spPr>
          <a:xfrm>
            <a:off x="4652367" y="740941"/>
            <a:ext cx="4000277" cy="4000277"/>
          </a:xfrm>
          <a:prstGeom prst="rect">
            <a:avLst/>
          </a:prstGeom>
        </p:spPr>
      </p:pic>
      <p:sp>
        <p:nvSpPr>
          <p:cNvPr id="17" name="Shape 8"/>
          <p:cNvSpPr/>
          <p:nvPr/>
        </p:nvSpPr>
        <p:spPr>
          <a:xfrm>
            <a:off x="496119" y="4810869"/>
            <a:ext cx="8151763" cy="238497"/>
          </a:xfrm>
          <a:prstGeom prst="roundRect">
            <a:avLst>
              <a:gd name="adj" fmla="val 10922"/>
            </a:avLst>
          </a:prstGeom>
          <a:solidFill>
            <a:srgbClr val="DADBF1"/>
          </a:solidFill>
          <a:ln/>
        </p:spPr>
      </p:sp>
      <p:pic>
        <p:nvPicPr>
          <p:cNvPr id="18" name="Image 7" descr="preencoded.png"/>
          <p:cNvPicPr>
            <a:picLocks noChangeAspect="1"/>
          </p:cNvPicPr>
          <p:nvPr/>
        </p:nvPicPr>
        <p:blipFill>
          <a:blip r:embed="rId8"/>
          <a:stretch>
            <a:fillRect/>
          </a:stretch>
        </p:blipFill>
        <p:spPr>
          <a:xfrm>
            <a:off x="558105" y="4888334"/>
            <a:ext cx="77465" cy="61987"/>
          </a:xfrm>
          <a:prstGeom prst="rect">
            <a:avLst/>
          </a:prstGeom>
        </p:spPr>
      </p:pic>
      <p:sp>
        <p:nvSpPr>
          <p:cNvPr id="19" name="Text 9"/>
          <p:cNvSpPr/>
          <p:nvPr/>
        </p:nvSpPr>
        <p:spPr>
          <a:xfrm>
            <a:off x="697557" y="4857304"/>
            <a:ext cx="7888337" cy="148679"/>
          </a:xfrm>
          <a:prstGeom prst="rect">
            <a:avLst/>
          </a:prstGeom>
          <a:noFill/>
          <a:ln/>
        </p:spPr>
        <p:txBody>
          <a:bodyPr wrap="square" lIns="0" tIns="0" rIns="0" bIns="0" rtlCol="0" anchor="t">
            <a:normAutofit/>
          </a:bodyPr>
          <a:lstStyle/>
          <a:p>
            <a:pPr marL="0" indent="0" algn="l">
              <a:lnSpc>
                <a:spcPct val="100000"/>
              </a:lnSpc>
              <a:buNone/>
            </a:pPr>
            <a:r>
              <a:rPr lang="en-US" sz="450" dirty="0">
                <a:solidFill>
                  <a:srgbClr val="000000"/>
                </a:solidFill>
                <a:latin typeface="Inter" pitchFamily="34" charset="0"/>
                <a:ea typeface="Inter" pitchFamily="34" charset="-122"/>
                <a:cs typeface="Inter" pitchFamily="34" charset="-120"/>
              </a:rPr>
              <a:t>🎤</a:t>
            </a:r>
            <a:r>
              <a:rPr lang="en-US" sz="450" b="1" dirty="0">
                <a:solidFill>
                  <a:srgbClr val="000000"/>
                </a:solidFill>
                <a:latin typeface="Inter Bold" pitchFamily="34" charset="0"/>
                <a:ea typeface="Inter Bold" pitchFamily="34" charset="-122"/>
                <a:cs typeface="Inter Bold" pitchFamily="34" charset="-120"/>
              </a:rPr>
              <a:t> Speaker Notes:</a:t>
            </a:r>
            <a:r>
              <a:rPr lang="en-US" sz="450" dirty="0">
                <a:solidFill>
                  <a:srgbClr val="000000"/>
                </a:solidFill>
                <a:latin typeface="Inter" pitchFamily="34" charset="0"/>
                <a:ea typeface="Inter" pitchFamily="34" charset="-122"/>
                <a:cs typeface="Inter" pitchFamily="34" charset="-120"/>
              </a:rPr>
              <a:t> Under the hood, SwiftAid is built for the real world. Our frontend uses React.js and Vite for fast, responsive performance with a glassmorphism UI that's intuitive even under stress. The backend runs on Node.js and Python REST APIs, handling our dispatch engine and AI triage logic. And we chose MongoDB specifically for its native geospatial query capabilities — which is essential for finding the nearest ambulance and hospital in real time. This stack is production-ready and scales to city-wide deployment.</a:t>
            </a:r>
            <a:endParaRPr lang="en-US" sz="450" dirty="0"/>
          </a:p>
        </p:txBody>
      </p:sp>
      <p:sp>
        <p:nvSpPr>
          <p:cNvPr id="21" name="Rectangle 20">
            <a:extLst>
              <a:ext uri="{FF2B5EF4-FFF2-40B4-BE49-F238E27FC236}">
                <a16:creationId xmlns:a16="http://schemas.microsoft.com/office/drawing/2014/main" id="{E4F1251C-586D-72B8-DF5A-EBC7734696E5}"/>
              </a:ext>
            </a:extLst>
          </p:cNvPr>
          <p:cNvSpPr/>
          <p:nvPr/>
        </p:nvSpPr>
        <p:spPr>
          <a:xfrm>
            <a:off x="8008730" y="4845878"/>
            <a:ext cx="1135270" cy="234122"/>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23" name="Rectangle 22">
            <a:extLst>
              <a:ext uri="{FF2B5EF4-FFF2-40B4-BE49-F238E27FC236}">
                <a16:creationId xmlns:a16="http://schemas.microsoft.com/office/drawing/2014/main" id="{9A5203FD-2477-3801-6265-C141FEAFC1D0}"/>
              </a:ext>
            </a:extLst>
          </p:cNvPr>
          <p:cNvSpPr/>
          <p:nvPr/>
        </p:nvSpPr>
        <p:spPr>
          <a:xfrm>
            <a:off x="496119" y="4786078"/>
            <a:ext cx="8608964" cy="337628"/>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96119" y="361876"/>
            <a:ext cx="8151763" cy="339179"/>
          </a:xfrm>
          <a:prstGeom prst="rect">
            <a:avLst/>
          </a:prstGeom>
          <a:noFill/>
          <a:ln/>
        </p:spPr>
        <p:txBody>
          <a:bodyPr wrap="none" lIns="0" tIns="0" rIns="0" bIns="0" rtlCol="0" anchor="t"/>
          <a:lstStyle/>
          <a:p>
            <a:pPr marL="0" indent="0" algn="l">
              <a:lnSpc>
                <a:spcPct val="104000"/>
              </a:lnSpc>
              <a:buNone/>
            </a:pPr>
            <a:r>
              <a:rPr lang="en-US" sz="2100" b="1" dirty="0">
                <a:solidFill>
                  <a:srgbClr val="000000"/>
                </a:solidFill>
                <a:latin typeface="Inter Bold" pitchFamily="34" charset="0"/>
                <a:ea typeface="Inter Bold" pitchFamily="34" charset="-122"/>
                <a:cs typeface="Inter Bold" pitchFamily="34" charset="-120"/>
              </a:rPr>
              <a:t>The Road Ahead: What's Next for SwiftAid</a:t>
            </a:r>
            <a:endParaRPr lang="en-US" sz="2100" dirty="0"/>
          </a:p>
        </p:txBody>
      </p:sp>
      <p:sp>
        <p:nvSpPr>
          <p:cNvPr id="3" name="Text 1"/>
          <p:cNvSpPr/>
          <p:nvPr/>
        </p:nvSpPr>
        <p:spPr>
          <a:xfrm>
            <a:off x="496119" y="890960"/>
            <a:ext cx="8151763" cy="325636"/>
          </a:xfrm>
          <a:prstGeom prst="rect">
            <a:avLst/>
          </a:prstGeom>
          <a:noFill/>
          <a:ln/>
        </p:spPr>
        <p:txBody>
          <a:bodyPr wrap="square" lIns="0" tIns="0" rIns="0" bIns="0" rtlCol="0" anchor="t">
            <a:normAutofit/>
          </a:bodyPr>
          <a:lstStyle/>
          <a:p>
            <a:pPr marL="0" indent="0" algn="l">
              <a:lnSpc>
                <a:spcPct val="125000"/>
              </a:lnSpc>
              <a:buNone/>
            </a:pPr>
            <a:r>
              <a:rPr lang="en-US" sz="850" dirty="0">
                <a:solidFill>
                  <a:srgbClr val="272525"/>
                </a:solidFill>
                <a:latin typeface="Inter" pitchFamily="34" charset="0"/>
                <a:ea typeface="Inter" pitchFamily="34" charset="-122"/>
                <a:cs typeface="Inter" pitchFamily="34" charset="-120"/>
              </a:rPr>
              <a:t>SwiftAid is already a functional, life-saving prototype. But our vision extends far beyond — into predictive intelligence, wearable integration, and city-wide emergency infrastructure.</a:t>
            </a:r>
            <a:endParaRPr lang="en-US" sz="850" dirty="0"/>
          </a:p>
        </p:txBody>
      </p:sp>
      <p:sp>
        <p:nvSpPr>
          <p:cNvPr id="4" name="Shape 2"/>
          <p:cNvSpPr/>
          <p:nvPr/>
        </p:nvSpPr>
        <p:spPr>
          <a:xfrm>
            <a:off x="496119" y="2472407"/>
            <a:ext cx="8151763" cy="14288"/>
          </a:xfrm>
          <a:prstGeom prst="roundRect">
            <a:avLst>
              <a:gd name="adj" fmla="val 319058"/>
            </a:avLst>
          </a:prstGeom>
          <a:solidFill>
            <a:srgbClr val="C0C1D7"/>
          </a:solidFill>
          <a:ln/>
        </p:spPr>
      </p:sp>
      <p:sp>
        <p:nvSpPr>
          <p:cNvPr id="5" name="Shape 3"/>
          <p:cNvSpPr/>
          <p:nvPr/>
        </p:nvSpPr>
        <p:spPr>
          <a:xfrm>
            <a:off x="2083594" y="2146883"/>
            <a:ext cx="14288" cy="325562"/>
          </a:xfrm>
          <a:prstGeom prst="roundRect">
            <a:avLst>
              <a:gd name="adj" fmla="val 319058"/>
            </a:avLst>
          </a:prstGeom>
          <a:solidFill>
            <a:srgbClr val="C0C1D7"/>
          </a:solidFill>
          <a:ln/>
        </p:spPr>
      </p:sp>
      <p:sp>
        <p:nvSpPr>
          <p:cNvPr id="6" name="Shape 4"/>
          <p:cNvSpPr/>
          <p:nvPr/>
        </p:nvSpPr>
        <p:spPr>
          <a:xfrm>
            <a:off x="1968698" y="2350331"/>
            <a:ext cx="244153" cy="244153"/>
          </a:xfrm>
          <a:prstGeom prst="roundRect">
            <a:avLst>
              <a:gd name="adj" fmla="val 18672"/>
            </a:avLst>
          </a:prstGeom>
          <a:solidFill>
            <a:srgbClr val="DADBF1"/>
          </a:solidFill>
          <a:ln w="4763">
            <a:solidFill>
              <a:srgbClr val="C0C1D7"/>
            </a:solidFill>
            <a:prstDash val="solid"/>
          </a:ln>
        </p:spPr>
      </p:sp>
      <p:sp>
        <p:nvSpPr>
          <p:cNvPr id="7" name="Text 5"/>
          <p:cNvSpPr/>
          <p:nvPr/>
        </p:nvSpPr>
        <p:spPr>
          <a:xfrm>
            <a:off x="2009366" y="2370646"/>
            <a:ext cx="162744" cy="203448"/>
          </a:xfrm>
          <a:prstGeom prst="rect">
            <a:avLst/>
          </a:prstGeom>
          <a:noFill/>
          <a:ln/>
        </p:spPr>
        <p:txBody>
          <a:bodyPr wrap="none" lIns="0" tIns="0" rIns="0" bIns="0" rtlCol="0" anchor="ctr"/>
          <a:lstStyle/>
          <a:p>
            <a:pPr marL="0" indent="0" algn="ctr">
              <a:lnSpc>
                <a:spcPct val="100000"/>
              </a:lnSpc>
              <a:buNone/>
            </a:pPr>
            <a:r>
              <a:rPr lang="en-US" sz="1250" b="1" dirty="0">
                <a:solidFill>
                  <a:srgbClr val="272525"/>
                </a:solidFill>
                <a:latin typeface="Inter Bold" pitchFamily="34" charset="0"/>
                <a:ea typeface="Inter Bold" pitchFamily="34" charset="-122"/>
                <a:cs typeface="Inter Bold" pitchFamily="34" charset="-120"/>
              </a:rPr>
              <a:t>1</a:t>
            </a:r>
            <a:endParaRPr lang="en-US" sz="1250" dirty="0"/>
          </a:p>
        </p:txBody>
      </p:sp>
      <p:sp>
        <p:nvSpPr>
          <p:cNvPr id="8" name="Text 6"/>
          <p:cNvSpPr/>
          <p:nvPr/>
        </p:nvSpPr>
        <p:spPr>
          <a:xfrm>
            <a:off x="604614" y="1323380"/>
            <a:ext cx="2972470" cy="169515"/>
          </a:xfrm>
          <a:prstGeom prst="rect">
            <a:avLst/>
          </a:prstGeom>
          <a:noFill/>
          <a:ln/>
        </p:spPr>
        <p:txBody>
          <a:bodyPr wrap="none" lIns="0" tIns="0" rIns="0" bIns="0" rtlCol="0" anchor="t"/>
          <a:lstStyle/>
          <a:p>
            <a:pPr marL="0" indent="0" algn="ctr">
              <a:lnSpc>
                <a:spcPct val="104000"/>
              </a:lnSpc>
              <a:buNone/>
            </a:pPr>
            <a:r>
              <a:rPr lang="en-US" sz="1050" b="1" dirty="0">
                <a:solidFill>
                  <a:srgbClr val="272525"/>
                </a:solidFill>
                <a:latin typeface="Inter Bold" pitchFamily="34" charset="0"/>
                <a:ea typeface="Inter Bold" pitchFamily="34" charset="-122"/>
                <a:cs typeface="Inter Bold" pitchFamily="34" charset="-120"/>
              </a:rPr>
              <a:t>Phase 1 — Now</a:t>
            </a:r>
            <a:endParaRPr lang="en-US" sz="1050" dirty="0"/>
          </a:p>
        </p:txBody>
      </p:sp>
      <p:sp>
        <p:nvSpPr>
          <p:cNvPr id="9" name="Text 7"/>
          <p:cNvSpPr/>
          <p:nvPr/>
        </p:nvSpPr>
        <p:spPr>
          <a:xfrm>
            <a:off x="604614" y="1549822"/>
            <a:ext cx="2972470" cy="325636"/>
          </a:xfrm>
          <a:prstGeom prst="rect">
            <a:avLst/>
          </a:prstGeom>
          <a:noFill/>
          <a:ln/>
        </p:spPr>
        <p:txBody>
          <a:bodyPr wrap="square" lIns="0" tIns="0" rIns="0" bIns="0" rtlCol="0" anchor="t">
            <a:normAutofit/>
          </a:bodyPr>
          <a:lstStyle/>
          <a:p>
            <a:pPr marL="0" indent="0" algn="ctr">
              <a:lnSpc>
                <a:spcPct val="125000"/>
              </a:lnSpc>
              <a:buNone/>
            </a:pPr>
            <a:r>
              <a:rPr lang="en-US" sz="850" dirty="0">
                <a:solidFill>
                  <a:srgbClr val="272525"/>
                </a:solidFill>
                <a:latin typeface="Inter" pitchFamily="34" charset="0"/>
                <a:ea typeface="Inter" pitchFamily="34" charset="-122"/>
                <a:cs typeface="Inter" pitchFamily="34" charset="-120"/>
              </a:rPr>
              <a:t>Core SOS app, live tracking, smart dispatch, and three dashboards fully operational and hackathon-ready.</a:t>
            </a:r>
            <a:endParaRPr lang="en-US" sz="850" dirty="0"/>
          </a:p>
        </p:txBody>
      </p:sp>
      <p:sp>
        <p:nvSpPr>
          <p:cNvPr id="10" name="Shape 8"/>
          <p:cNvSpPr/>
          <p:nvPr/>
        </p:nvSpPr>
        <p:spPr>
          <a:xfrm>
            <a:off x="3737670" y="2472370"/>
            <a:ext cx="14288" cy="325562"/>
          </a:xfrm>
          <a:prstGeom prst="roundRect">
            <a:avLst>
              <a:gd name="adj" fmla="val 319058"/>
            </a:avLst>
          </a:prstGeom>
          <a:solidFill>
            <a:srgbClr val="C0C1D7"/>
          </a:solidFill>
          <a:ln/>
        </p:spPr>
      </p:sp>
      <p:sp>
        <p:nvSpPr>
          <p:cNvPr id="11" name="Shape 9"/>
          <p:cNvSpPr/>
          <p:nvPr/>
        </p:nvSpPr>
        <p:spPr>
          <a:xfrm>
            <a:off x="3622774" y="2350331"/>
            <a:ext cx="244153" cy="244153"/>
          </a:xfrm>
          <a:prstGeom prst="roundRect">
            <a:avLst>
              <a:gd name="adj" fmla="val 18672"/>
            </a:avLst>
          </a:prstGeom>
          <a:solidFill>
            <a:srgbClr val="DADBF1"/>
          </a:solidFill>
          <a:ln w="4763">
            <a:solidFill>
              <a:srgbClr val="C0C1D7"/>
            </a:solidFill>
            <a:prstDash val="solid"/>
          </a:ln>
        </p:spPr>
      </p:sp>
      <p:sp>
        <p:nvSpPr>
          <p:cNvPr id="12" name="Text 10"/>
          <p:cNvSpPr/>
          <p:nvPr/>
        </p:nvSpPr>
        <p:spPr>
          <a:xfrm>
            <a:off x="3663442" y="2370646"/>
            <a:ext cx="162744" cy="203448"/>
          </a:xfrm>
          <a:prstGeom prst="rect">
            <a:avLst/>
          </a:prstGeom>
          <a:noFill/>
          <a:ln/>
        </p:spPr>
        <p:txBody>
          <a:bodyPr wrap="none" lIns="0" tIns="0" rIns="0" bIns="0" rtlCol="0" anchor="ctr"/>
          <a:lstStyle/>
          <a:p>
            <a:pPr marL="0" indent="0" algn="ctr">
              <a:lnSpc>
                <a:spcPct val="100000"/>
              </a:lnSpc>
              <a:buNone/>
            </a:pPr>
            <a:r>
              <a:rPr lang="en-US" sz="1250" b="1" dirty="0">
                <a:solidFill>
                  <a:srgbClr val="272525"/>
                </a:solidFill>
                <a:latin typeface="Inter Bold" pitchFamily="34" charset="0"/>
                <a:ea typeface="Inter Bold" pitchFamily="34" charset="-122"/>
                <a:cs typeface="Inter Bold" pitchFamily="34" charset="-120"/>
              </a:rPr>
              <a:t>2</a:t>
            </a:r>
            <a:endParaRPr lang="en-US" sz="1250" dirty="0"/>
          </a:p>
        </p:txBody>
      </p:sp>
      <p:sp>
        <p:nvSpPr>
          <p:cNvPr id="13" name="Text 11"/>
          <p:cNvSpPr/>
          <p:nvPr/>
        </p:nvSpPr>
        <p:spPr>
          <a:xfrm>
            <a:off x="2258690" y="2906539"/>
            <a:ext cx="2972470" cy="169515"/>
          </a:xfrm>
          <a:prstGeom prst="rect">
            <a:avLst/>
          </a:prstGeom>
          <a:noFill/>
          <a:ln/>
        </p:spPr>
        <p:txBody>
          <a:bodyPr wrap="none" lIns="0" tIns="0" rIns="0" bIns="0" rtlCol="0" anchor="t"/>
          <a:lstStyle/>
          <a:p>
            <a:pPr marL="0" indent="0" algn="ctr">
              <a:lnSpc>
                <a:spcPct val="104000"/>
              </a:lnSpc>
              <a:buNone/>
            </a:pPr>
            <a:r>
              <a:rPr lang="en-US" sz="1050" b="1" dirty="0">
                <a:solidFill>
                  <a:srgbClr val="272525"/>
                </a:solidFill>
                <a:latin typeface="Inter Bold" pitchFamily="34" charset="0"/>
                <a:ea typeface="Inter Bold" pitchFamily="34" charset="-122"/>
                <a:cs typeface="Inter Bold" pitchFamily="34" charset="-120"/>
              </a:rPr>
              <a:t>Phase 2 — Next</a:t>
            </a:r>
            <a:endParaRPr lang="en-US" sz="1050" dirty="0"/>
          </a:p>
        </p:txBody>
      </p:sp>
      <p:sp>
        <p:nvSpPr>
          <p:cNvPr id="14" name="Text 12"/>
          <p:cNvSpPr/>
          <p:nvPr/>
        </p:nvSpPr>
        <p:spPr>
          <a:xfrm>
            <a:off x="2258690" y="3132981"/>
            <a:ext cx="2972470" cy="488454"/>
          </a:xfrm>
          <a:prstGeom prst="rect">
            <a:avLst/>
          </a:prstGeom>
          <a:noFill/>
          <a:ln/>
        </p:spPr>
        <p:txBody>
          <a:bodyPr wrap="square" lIns="0" tIns="0" rIns="0" bIns="0" rtlCol="0" anchor="t">
            <a:normAutofit/>
          </a:bodyPr>
          <a:lstStyle/>
          <a:p>
            <a:pPr marL="0" indent="0" algn="ctr">
              <a:lnSpc>
                <a:spcPct val="125000"/>
              </a:lnSpc>
              <a:buNone/>
            </a:pPr>
            <a:r>
              <a:rPr lang="en-US" sz="850" dirty="0">
                <a:solidFill>
                  <a:srgbClr val="272525"/>
                </a:solidFill>
                <a:latin typeface="Inter" pitchFamily="34" charset="0"/>
                <a:ea typeface="Inter" pitchFamily="34" charset="-122"/>
                <a:cs typeface="Inter" pitchFamily="34" charset="-120"/>
              </a:rPr>
              <a:t>Smartwatch auto-SOS integration using fall detection and heart rate anomaly triggers. No tap required — the watch calls for help automatically.</a:t>
            </a:r>
            <a:endParaRPr lang="en-US" sz="850" dirty="0"/>
          </a:p>
        </p:txBody>
      </p:sp>
      <p:sp>
        <p:nvSpPr>
          <p:cNvPr id="15" name="Shape 13"/>
          <p:cNvSpPr/>
          <p:nvPr/>
        </p:nvSpPr>
        <p:spPr>
          <a:xfrm>
            <a:off x="5391745" y="2146883"/>
            <a:ext cx="14288" cy="325562"/>
          </a:xfrm>
          <a:prstGeom prst="roundRect">
            <a:avLst>
              <a:gd name="adj" fmla="val 319058"/>
            </a:avLst>
          </a:prstGeom>
          <a:solidFill>
            <a:srgbClr val="C0C1D7"/>
          </a:solidFill>
          <a:ln/>
        </p:spPr>
      </p:sp>
      <p:sp>
        <p:nvSpPr>
          <p:cNvPr id="16" name="Shape 14"/>
          <p:cNvSpPr/>
          <p:nvPr/>
        </p:nvSpPr>
        <p:spPr>
          <a:xfrm>
            <a:off x="5276850" y="2350331"/>
            <a:ext cx="244153" cy="244153"/>
          </a:xfrm>
          <a:prstGeom prst="roundRect">
            <a:avLst>
              <a:gd name="adj" fmla="val 18672"/>
            </a:avLst>
          </a:prstGeom>
          <a:solidFill>
            <a:srgbClr val="DADBF1"/>
          </a:solidFill>
          <a:ln w="4763">
            <a:solidFill>
              <a:srgbClr val="C0C1D7"/>
            </a:solidFill>
            <a:prstDash val="solid"/>
          </a:ln>
        </p:spPr>
      </p:sp>
      <p:sp>
        <p:nvSpPr>
          <p:cNvPr id="17" name="Text 15"/>
          <p:cNvSpPr/>
          <p:nvPr/>
        </p:nvSpPr>
        <p:spPr>
          <a:xfrm>
            <a:off x="5317517" y="2370646"/>
            <a:ext cx="162744" cy="203448"/>
          </a:xfrm>
          <a:prstGeom prst="rect">
            <a:avLst/>
          </a:prstGeom>
          <a:noFill/>
          <a:ln/>
        </p:spPr>
        <p:txBody>
          <a:bodyPr wrap="none" lIns="0" tIns="0" rIns="0" bIns="0" rtlCol="0" anchor="ctr"/>
          <a:lstStyle/>
          <a:p>
            <a:pPr marL="0" indent="0" algn="ctr">
              <a:lnSpc>
                <a:spcPct val="100000"/>
              </a:lnSpc>
              <a:buNone/>
            </a:pPr>
            <a:r>
              <a:rPr lang="en-US" sz="1250" b="1" dirty="0">
                <a:solidFill>
                  <a:srgbClr val="272525"/>
                </a:solidFill>
                <a:latin typeface="Inter Bold" pitchFamily="34" charset="0"/>
                <a:ea typeface="Inter Bold" pitchFamily="34" charset="-122"/>
                <a:cs typeface="Inter Bold" pitchFamily="34" charset="-120"/>
              </a:rPr>
              <a:t>3</a:t>
            </a:r>
            <a:endParaRPr lang="en-US" sz="1250" dirty="0"/>
          </a:p>
        </p:txBody>
      </p:sp>
      <p:sp>
        <p:nvSpPr>
          <p:cNvPr id="18" name="Text 16"/>
          <p:cNvSpPr/>
          <p:nvPr/>
        </p:nvSpPr>
        <p:spPr>
          <a:xfrm>
            <a:off x="3912766" y="1323380"/>
            <a:ext cx="2972470" cy="169515"/>
          </a:xfrm>
          <a:prstGeom prst="rect">
            <a:avLst/>
          </a:prstGeom>
          <a:noFill/>
          <a:ln/>
        </p:spPr>
        <p:txBody>
          <a:bodyPr wrap="none" lIns="0" tIns="0" rIns="0" bIns="0" rtlCol="0" anchor="t"/>
          <a:lstStyle/>
          <a:p>
            <a:pPr marL="0" indent="0" algn="ctr">
              <a:lnSpc>
                <a:spcPct val="104000"/>
              </a:lnSpc>
              <a:buNone/>
            </a:pPr>
            <a:r>
              <a:rPr lang="en-US" sz="1050" b="1" dirty="0">
                <a:solidFill>
                  <a:srgbClr val="272525"/>
                </a:solidFill>
                <a:latin typeface="Inter Bold" pitchFamily="34" charset="0"/>
                <a:ea typeface="Inter Bold" pitchFamily="34" charset="-122"/>
                <a:cs typeface="Inter Bold" pitchFamily="34" charset="-120"/>
              </a:rPr>
              <a:t>Phase 3 — Scale</a:t>
            </a:r>
            <a:endParaRPr lang="en-US" sz="1050" dirty="0"/>
          </a:p>
        </p:txBody>
      </p:sp>
      <p:sp>
        <p:nvSpPr>
          <p:cNvPr id="19" name="Text 17"/>
          <p:cNvSpPr/>
          <p:nvPr/>
        </p:nvSpPr>
        <p:spPr>
          <a:xfrm>
            <a:off x="3912766" y="1549822"/>
            <a:ext cx="2972470" cy="488454"/>
          </a:xfrm>
          <a:prstGeom prst="rect">
            <a:avLst/>
          </a:prstGeom>
          <a:noFill/>
          <a:ln/>
        </p:spPr>
        <p:txBody>
          <a:bodyPr wrap="square" lIns="0" tIns="0" rIns="0" bIns="0" rtlCol="0" anchor="t">
            <a:normAutofit/>
          </a:bodyPr>
          <a:lstStyle/>
          <a:p>
            <a:pPr marL="0" indent="0" algn="ctr">
              <a:lnSpc>
                <a:spcPct val="125000"/>
              </a:lnSpc>
              <a:buNone/>
            </a:pPr>
            <a:r>
              <a:rPr lang="en-US" sz="850" dirty="0">
                <a:solidFill>
                  <a:srgbClr val="272525"/>
                </a:solidFill>
                <a:latin typeface="Inter" pitchFamily="34" charset="0"/>
                <a:ea typeface="Inter" pitchFamily="34" charset="-122"/>
                <a:cs typeface="Inter" pitchFamily="34" charset="-120"/>
              </a:rPr>
              <a:t>Pilot partnerships with city ambulance services and private hospitals. Real-world deployment and response time validation.</a:t>
            </a:r>
            <a:endParaRPr lang="en-US" sz="850" dirty="0"/>
          </a:p>
        </p:txBody>
      </p:sp>
      <p:sp>
        <p:nvSpPr>
          <p:cNvPr id="20" name="Shape 18"/>
          <p:cNvSpPr/>
          <p:nvPr/>
        </p:nvSpPr>
        <p:spPr>
          <a:xfrm>
            <a:off x="7045821" y="2472370"/>
            <a:ext cx="14288" cy="325562"/>
          </a:xfrm>
          <a:prstGeom prst="roundRect">
            <a:avLst>
              <a:gd name="adj" fmla="val 319058"/>
            </a:avLst>
          </a:prstGeom>
          <a:solidFill>
            <a:srgbClr val="C0C1D7"/>
          </a:solidFill>
          <a:ln/>
        </p:spPr>
      </p:sp>
      <p:sp>
        <p:nvSpPr>
          <p:cNvPr id="21" name="Shape 19"/>
          <p:cNvSpPr/>
          <p:nvPr/>
        </p:nvSpPr>
        <p:spPr>
          <a:xfrm>
            <a:off x="6930926" y="2350331"/>
            <a:ext cx="244153" cy="244153"/>
          </a:xfrm>
          <a:prstGeom prst="roundRect">
            <a:avLst>
              <a:gd name="adj" fmla="val 18672"/>
            </a:avLst>
          </a:prstGeom>
          <a:solidFill>
            <a:srgbClr val="DADBF1"/>
          </a:solidFill>
          <a:ln w="4763">
            <a:solidFill>
              <a:srgbClr val="C0C1D7"/>
            </a:solidFill>
            <a:prstDash val="solid"/>
          </a:ln>
        </p:spPr>
      </p:sp>
      <p:sp>
        <p:nvSpPr>
          <p:cNvPr id="22" name="Text 20"/>
          <p:cNvSpPr/>
          <p:nvPr/>
        </p:nvSpPr>
        <p:spPr>
          <a:xfrm>
            <a:off x="6971593" y="2370646"/>
            <a:ext cx="162744" cy="203448"/>
          </a:xfrm>
          <a:prstGeom prst="rect">
            <a:avLst/>
          </a:prstGeom>
          <a:noFill/>
          <a:ln/>
        </p:spPr>
        <p:txBody>
          <a:bodyPr wrap="none" lIns="0" tIns="0" rIns="0" bIns="0" rtlCol="0" anchor="ctr"/>
          <a:lstStyle/>
          <a:p>
            <a:pPr marL="0" indent="0" algn="ctr">
              <a:lnSpc>
                <a:spcPct val="100000"/>
              </a:lnSpc>
              <a:buNone/>
            </a:pPr>
            <a:r>
              <a:rPr lang="en-US" sz="1250" b="1" dirty="0">
                <a:solidFill>
                  <a:srgbClr val="272525"/>
                </a:solidFill>
                <a:latin typeface="Inter Bold" pitchFamily="34" charset="0"/>
                <a:ea typeface="Inter Bold" pitchFamily="34" charset="-122"/>
                <a:cs typeface="Inter Bold" pitchFamily="34" charset="-120"/>
              </a:rPr>
              <a:t>4</a:t>
            </a:r>
            <a:endParaRPr lang="en-US" sz="1250" dirty="0"/>
          </a:p>
        </p:txBody>
      </p:sp>
      <p:sp>
        <p:nvSpPr>
          <p:cNvPr id="23" name="Text 21"/>
          <p:cNvSpPr/>
          <p:nvPr/>
        </p:nvSpPr>
        <p:spPr>
          <a:xfrm>
            <a:off x="5566842" y="2906539"/>
            <a:ext cx="2972470" cy="169515"/>
          </a:xfrm>
          <a:prstGeom prst="rect">
            <a:avLst/>
          </a:prstGeom>
          <a:noFill/>
          <a:ln/>
        </p:spPr>
        <p:txBody>
          <a:bodyPr wrap="none" lIns="0" tIns="0" rIns="0" bIns="0" rtlCol="0" anchor="t"/>
          <a:lstStyle/>
          <a:p>
            <a:pPr marL="0" indent="0" algn="ctr">
              <a:lnSpc>
                <a:spcPct val="104000"/>
              </a:lnSpc>
              <a:buNone/>
            </a:pPr>
            <a:r>
              <a:rPr lang="en-US" sz="1050" b="1" dirty="0">
                <a:solidFill>
                  <a:srgbClr val="272525"/>
                </a:solidFill>
                <a:latin typeface="Inter Bold" pitchFamily="34" charset="0"/>
                <a:ea typeface="Inter Bold" pitchFamily="34" charset="-122"/>
                <a:cs typeface="Inter Bold" pitchFamily="34" charset="-120"/>
              </a:rPr>
              <a:t>Phase 4 — Vision</a:t>
            </a:r>
            <a:endParaRPr lang="en-US" sz="1050" dirty="0"/>
          </a:p>
        </p:txBody>
      </p:sp>
      <p:sp>
        <p:nvSpPr>
          <p:cNvPr id="24" name="Text 22"/>
          <p:cNvSpPr/>
          <p:nvPr/>
        </p:nvSpPr>
        <p:spPr>
          <a:xfrm>
            <a:off x="5566842" y="3132981"/>
            <a:ext cx="2972470" cy="488454"/>
          </a:xfrm>
          <a:prstGeom prst="rect">
            <a:avLst/>
          </a:prstGeom>
          <a:noFill/>
          <a:ln/>
        </p:spPr>
        <p:txBody>
          <a:bodyPr wrap="square" lIns="0" tIns="0" rIns="0" bIns="0" rtlCol="0" anchor="t">
            <a:normAutofit/>
          </a:bodyPr>
          <a:lstStyle/>
          <a:p>
            <a:pPr marL="0" indent="0" algn="ctr">
              <a:lnSpc>
                <a:spcPct val="125000"/>
              </a:lnSpc>
              <a:buNone/>
            </a:pPr>
            <a:r>
              <a:rPr lang="en-US" sz="850" dirty="0">
                <a:solidFill>
                  <a:srgbClr val="272525"/>
                </a:solidFill>
                <a:latin typeface="Inter" pitchFamily="34" charset="0"/>
                <a:ea typeface="Inter" pitchFamily="34" charset="-122"/>
                <a:cs typeface="Inter" pitchFamily="34" charset="-120"/>
              </a:rPr>
              <a:t>AI-powered predictive dispatch using traffic patterns and historical emergency data. City-wide emergency intelligence network.</a:t>
            </a:r>
            <a:endParaRPr lang="en-US" sz="850" dirty="0"/>
          </a:p>
        </p:txBody>
      </p:sp>
      <p:sp>
        <p:nvSpPr>
          <p:cNvPr id="25" name="Shape 23"/>
          <p:cNvSpPr/>
          <p:nvPr/>
        </p:nvSpPr>
        <p:spPr>
          <a:xfrm>
            <a:off x="496119" y="3728219"/>
            <a:ext cx="8151763" cy="1053405"/>
          </a:xfrm>
          <a:prstGeom prst="roundRect">
            <a:avLst>
              <a:gd name="adj" fmla="val 4328"/>
            </a:avLst>
          </a:prstGeom>
          <a:solidFill>
            <a:srgbClr val="DADBF1"/>
          </a:solidFill>
          <a:ln/>
        </p:spPr>
      </p:sp>
      <p:pic>
        <p:nvPicPr>
          <p:cNvPr id="26" name="Image 0" descr="preencoded.png"/>
          <p:cNvPicPr>
            <a:picLocks noChangeAspect="1"/>
          </p:cNvPicPr>
          <p:nvPr/>
        </p:nvPicPr>
        <p:blipFill>
          <a:blip r:embed="rId3"/>
          <a:stretch>
            <a:fillRect/>
          </a:stretch>
        </p:blipFill>
        <p:spPr>
          <a:xfrm>
            <a:off x="604614" y="3878387"/>
            <a:ext cx="135657" cy="108496"/>
          </a:xfrm>
          <a:prstGeom prst="rect">
            <a:avLst/>
          </a:prstGeom>
        </p:spPr>
      </p:pic>
      <p:sp>
        <p:nvSpPr>
          <p:cNvPr id="27" name="Text 24"/>
          <p:cNvSpPr/>
          <p:nvPr/>
        </p:nvSpPr>
        <p:spPr>
          <a:xfrm>
            <a:off x="848767" y="3850258"/>
            <a:ext cx="7690619" cy="818852"/>
          </a:xfrm>
          <a:prstGeom prst="rect">
            <a:avLst/>
          </a:prstGeom>
          <a:noFill/>
          <a:ln/>
        </p:spPr>
        <p:txBody>
          <a:bodyPr wrap="square" lIns="0" tIns="0" rIns="0" bIns="0" rtlCol="0" anchor="t">
            <a:normAutofit/>
          </a:bodyPr>
          <a:lstStyle/>
          <a:p>
            <a:pPr marL="0" indent="0" algn="l">
              <a:lnSpc>
                <a:spcPct val="125000"/>
              </a:lnSpc>
              <a:buNone/>
            </a:pPr>
            <a:r>
              <a:rPr lang="en-US" sz="850" dirty="0">
                <a:solidFill>
                  <a:srgbClr val="000000"/>
                </a:solidFill>
                <a:latin typeface="Inter" pitchFamily="34" charset="0"/>
                <a:ea typeface="Inter" pitchFamily="34" charset="-122"/>
                <a:cs typeface="Inter" pitchFamily="34" charset="-120"/>
              </a:rPr>
              <a:t>🎤</a:t>
            </a:r>
            <a:r>
              <a:rPr lang="en-US" sz="850" b="1" dirty="0">
                <a:solidFill>
                  <a:srgbClr val="000000"/>
                </a:solidFill>
                <a:latin typeface="Inter Bold" pitchFamily="34" charset="0"/>
                <a:ea typeface="Inter Bold" pitchFamily="34" charset="-122"/>
                <a:cs typeface="Inter Bold" pitchFamily="34" charset="-120"/>
              </a:rPr>
              <a:t> Speaker Notes:</a:t>
            </a:r>
            <a:r>
              <a:rPr lang="en-US" sz="850" dirty="0">
                <a:solidFill>
                  <a:srgbClr val="000000"/>
                </a:solidFill>
                <a:latin typeface="Inter" pitchFamily="34" charset="0"/>
                <a:ea typeface="Inter" pitchFamily="34" charset="-122"/>
                <a:cs typeface="Inter" pitchFamily="34" charset="-120"/>
              </a:rPr>
              <a:t> What you've seen today is Phase 1 — a fully functional, hackathon-ready platform. But our roadmap is ambitious. Phase 2 brings smartwatch integration — using fall detection and heart rate anomalies to trigger an SOS automatically, with no tap required. Imagine an elderly person falling at home and their watch calling for help before they can even speak. Phase 3 is real-world pilot partnerships with ambulance services and hospitals. And Phase 4 is our moonshot — predictive AI dispatch that anticipates emergencies before they escalate using traffic patterns and historical data. This isn't just a prototype. This is the future of emergency response.</a:t>
            </a:r>
            <a:endParaRPr lang="en-US" sz="850" dirty="0"/>
          </a:p>
        </p:txBody>
      </p:sp>
      <p:pic>
        <p:nvPicPr>
          <p:cNvPr id="29" name="Picture 28">
            <a:extLst>
              <a:ext uri="{FF2B5EF4-FFF2-40B4-BE49-F238E27FC236}">
                <a16:creationId xmlns:a16="http://schemas.microsoft.com/office/drawing/2014/main" id="{2028C99B-C2C3-27AC-1D13-3CA34AF0C98F}"/>
              </a:ext>
            </a:extLst>
          </p:cNvPr>
          <p:cNvPicPr>
            <a:picLocks noChangeAspect="1"/>
          </p:cNvPicPr>
          <p:nvPr/>
        </p:nvPicPr>
        <p:blipFill>
          <a:blip r:embed="rId4"/>
          <a:stretch>
            <a:fillRect/>
          </a:stretch>
        </p:blipFill>
        <p:spPr>
          <a:xfrm>
            <a:off x="8001000" y="4864434"/>
            <a:ext cx="1143000" cy="23812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96119" y="595685"/>
            <a:ext cx="8151763" cy="387548"/>
          </a:xfrm>
          <a:prstGeom prst="rect">
            <a:avLst/>
          </a:prstGeom>
          <a:noFill/>
          <a:ln/>
        </p:spPr>
        <p:txBody>
          <a:bodyPr wrap="none" lIns="0" tIns="0" rIns="0" bIns="0" rtlCol="0" anchor="t"/>
          <a:lstStyle/>
          <a:p>
            <a:pPr marL="0" indent="0" algn="l">
              <a:lnSpc>
                <a:spcPct val="104000"/>
              </a:lnSpc>
              <a:buNone/>
            </a:pPr>
            <a:r>
              <a:rPr lang="en-US" sz="2400" b="1" dirty="0">
                <a:solidFill>
                  <a:srgbClr val="000000"/>
                </a:solidFill>
                <a:latin typeface="Inter Bold" pitchFamily="34" charset="0"/>
                <a:ea typeface="Inter Bold" pitchFamily="34" charset="-122"/>
                <a:cs typeface="Inter Bold" pitchFamily="34" charset="-120"/>
              </a:rPr>
              <a:t>SwiftAid — Because Every Second Is a Life</a:t>
            </a:r>
            <a:endParaRPr lang="en-US" sz="2400" dirty="0"/>
          </a:p>
        </p:txBody>
      </p:sp>
      <p:sp>
        <p:nvSpPr>
          <p:cNvPr id="3" name="Shape 1"/>
          <p:cNvSpPr/>
          <p:nvPr/>
        </p:nvSpPr>
        <p:spPr>
          <a:xfrm>
            <a:off x="496119" y="1231255"/>
            <a:ext cx="14288" cy="477515"/>
          </a:xfrm>
          <a:prstGeom prst="roundRect">
            <a:avLst>
              <a:gd name="adj" fmla="val 59998"/>
            </a:avLst>
          </a:prstGeom>
          <a:solidFill>
            <a:srgbClr val="4950BC"/>
          </a:solidFill>
          <a:ln/>
        </p:spPr>
      </p:sp>
      <p:sp>
        <p:nvSpPr>
          <p:cNvPr id="4" name="Text 2"/>
          <p:cNvSpPr/>
          <p:nvPr/>
        </p:nvSpPr>
        <p:spPr>
          <a:xfrm>
            <a:off x="682154" y="1370781"/>
            <a:ext cx="8422928" cy="198462"/>
          </a:xfrm>
          <a:prstGeom prst="rect">
            <a:avLst/>
          </a:prstGeom>
          <a:noFill/>
          <a:ln/>
        </p:spPr>
        <p:txBody>
          <a:bodyPr wrap="none" lIns="0" tIns="0" rIns="0" bIns="0" rtlCol="0" anchor="t"/>
          <a:lstStyle/>
          <a:p>
            <a:pPr marL="0" indent="0" algn="l">
              <a:lnSpc>
                <a:spcPct val="133000"/>
              </a:lnSpc>
              <a:buNone/>
            </a:pPr>
            <a:r>
              <a:rPr lang="en-US" sz="950" dirty="0">
                <a:solidFill>
                  <a:srgbClr val="272525"/>
                </a:solidFill>
                <a:latin typeface="Inter" pitchFamily="34" charset="0"/>
                <a:ea typeface="Inter" pitchFamily="34" charset="-122"/>
                <a:cs typeface="Inter" pitchFamily="34" charset="-120"/>
              </a:rPr>
              <a:t>"The question isn't whether technology can save lives in emergencies. The question is — why isn't it already doing so?"</a:t>
            </a:r>
            <a:endParaRPr lang="en-US" sz="950" dirty="0"/>
          </a:p>
        </p:txBody>
      </p:sp>
      <p:sp>
        <p:nvSpPr>
          <p:cNvPr id="5" name="Text 3"/>
          <p:cNvSpPr/>
          <p:nvPr/>
        </p:nvSpPr>
        <p:spPr>
          <a:xfrm>
            <a:off x="496119" y="1848296"/>
            <a:ext cx="8151763"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272525"/>
                </a:solidFill>
                <a:latin typeface="Inter" pitchFamily="34" charset="0"/>
                <a:ea typeface="Inter" pitchFamily="34" charset="-122"/>
                <a:cs typeface="Inter" pitchFamily="34" charset="-120"/>
              </a:rPr>
              <a:t>SwiftAid is not just a hackathon project. It is a life-saving tool built for the real world, with real features, a real tech stack, and a real roadmap to deployment. We are ready to build it. We are ready to scale it. We are ready to save lives.</a:t>
            </a:r>
            <a:endParaRPr lang="en-US" sz="950" dirty="0"/>
          </a:p>
        </p:txBody>
      </p:sp>
      <p:sp>
        <p:nvSpPr>
          <p:cNvPr id="6" name="Shape 4"/>
          <p:cNvSpPr/>
          <p:nvPr/>
        </p:nvSpPr>
        <p:spPr>
          <a:xfrm>
            <a:off x="496119" y="2384747"/>
            <a:ext cx="8151763" cy="728960"/>
          </a:xfrm>
          <a:prstGeom prst="roundRect">
            <a:avLst>
              <a:gd name="adj" fmla="val 7147"/>
            </a:avLst>
          </a:prstGeom>
          <a:solidFill>
            <a:srgbClr val="DADBF1"/>
          </a:solidFill>
          <a:ln w="4763">
            <a:solidFill>
              <a:srgbClr val="C0C1D7"/>
            </a:solidFill>
            <a:prstDash val="solid"/>
          </a:ln>
        </p:spPr>
      </p:sp>
      <p:sp>
        <p:nvSpPr>
          <p:cNvPr id="7" name="Shape 5"/>
          <p:cNvSpPr/>
          <p:nvPr/>
        </p:nvSpPr>
        <p:spPr>
          <a:xfrm>
            <a:off x="500881" y="2389510"/>
            <a:ext cx="2714030" cy="719435"/>
          </a:xfrm>
          <a:prstGeom prst="rect">
            <a:avLst/>
          </a:prstGeom>
          <a:solidFill>
            <a:srgbClr val="DADBF1"/>
          </a:solidFill>
          <a:ln/>
        </p:spPr>
      </p:sp>
      <p:sp>
        <p:nvSpPr>
          <p:cNvPr id="8" name="Text 6"/>
          <p:cNvSpPr/>
          <p:nvPr/>
        </p:nvSpPr>
        <p:spPr>
          <a:xfrm>
            <a:off x="624855" y="2513484"/>
            <a:ext cx="2466082" cy="198611"/>
          </a:xfrm>
          <a:prstGeom prst="rect">
            <a:avLst/>
          </a:prstGeom>
          <a:noFill/>
          <a:ln/>
        </p:spPr>
        <p:txBody>
          <a:bodyPr wrap="none" lIns="0" tIns="0" rIns="0" bIns="0" rtlCol="0" anchor="t"/>
          <a:lstStyle/>
          <a:p>
            <a:pPr marL="0" indent="0" algn="l">
              <a:lnSpc>
                <a:spcPct val="104000"/>
              </a:lnSpc>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b="1" dirty="0">
                <a:solidFill>
                  <a:srgbClr val="272525"/>
                </a:solidFill>
                <a:latin typeface="Inter Bold" pitchFamily="34" charset="0"/>
                <a:ea typeface="Inter Bold" pitchFamily="34" charset="-122"/>
                <a:cs typeface="Inter Bold" pitchFamily="34" charset="-120"/>
              </a:rPr>
              <a:t> Built</a:t>
            </a:r>
            <a:endParaRPr lang="en-US" sz="1200" dirty="0"/>
          </a:p>
        </p:txBody>
      </p:sp>
      <p:sp>
        <p:nvSpPr>
          <p:cNvPr id="9" name="Text 7"/>
          <p:cNvSpPr/>
          <p:nvPr/>
        </p:nvSpPr>
        <p:spPr>
          <a:xfrm>
            <a:off x="624855" y="2786509"/>
            <a:ext cx="2466082" cy="198462"/>
          </a:xfrm>
          <a:prstGeom prst="rect">
            <a:avLst/>
          </a:prstGeom>
          <a:noFill/>
          <a:ln/>
        </p:spPr>
        <p:txBody>
          <a:bodyPr wrap="none" lIns="0" tIns="0" rIns="0" bIns="0" rtlCol="0" anchor="t"/>
          <a:lstStyle/>
          <a:p>
            <a:pPr marL="0" indent="0" algn="l">
              <a:lnSpc>
                <a:spcPct val="133000"/>
              </a:lnSpc>
              <a:buNone/>
            </a:pPr>
            <a:r>
              <a:rPr lang="en-US" sz="950" dirty="0">
                <a:solidFill>
                  <a:srgbClr val="272525"/>
                </a:solidFill>
                <a:latin typeface="Inter" pitchFamily="34" charset="0"/>
                <a:ea typeface="Inter" pitchFamily="34" charset="-122"/>
                <a:cs typeface="Inter" pitchFamily="34" charset="-120"/>
              </a:rPr>
              <a:t>Full-stack, real-time platform</a:t>
            </a:r>
            <a:endParaRPr lang="en-US" sz="950" dirty="0"/>
          </a:p>
        </p:txBody>
      </p:sp>
      <p:sp>
        <p:nvSpPr>
          <p:cNvPr id="10" name="Shape 8"/>
          <p:cNvSpPr/>
          <p:nvPr/>
        </p:nvSpPr>
        <p:spPr>
          <a:xfrm>
            <a:off x="3214911" y="2389510"/>
            <a:ext cx="2714104" cy="719435"/>
          </a:xfrm>
          <a:prstGeom prst="rect">
            <a:avLst/>
          </a:prstGeom>
          <a:solidFill>
            <a:srgbClr val="DADBF1"/>
          </a:solidFill>
          <a:ln/>
        </p:spPr>
      </p:sp>
      <p:sp>
        <p:nvSpPr>
          <p:cNvPr id="11" name="Shape 9"/>
          <p:cNvSpPr/>
          <p:nvPr/>
        </p:nvSpPr>
        <p:spPr>
          <a:xfrm>
            <a:off x="3214911" y="2389510"/>
            <a:ext cx="14288" cy="719435"/>
          </a:xfrm>
          <a:prstGeom prst="roundRect">
            <a:avLst>
              <a:gd name="adj" fmla="val 364638"/>
            </a:avLst>
          </a:prstGeom>
          <a:solidFill>
            <a:srgbClr val="C0C1D7"/>
          </a:solidFill>
          <a:ln/>
        </p:spPr>
      </p:sp>
      <p:sp>
        <p:nvSpPr>
          <p:cNvPr id="12" name="Text 10"/>
          <p:cNvSpPr/>
          <p:nvPr/>
        </p:nvSpPr>
        <p:spPr>
          <a:xfrm>
            <a:off x="3338885" y="2513484"/>
            <a:ext cx="2466156" cy="198611"/>
          </a:xfrm>
          <a:prstGeom prst="rect">
            <a:avLst/>
          </a:prstGeom>
          <a:noFill/>
          <a:ln/>
        </p:spPr>
        <p:txBody>
          <a:bodyPr wrap="none" lIns="0" tIns="0" rIns="0" bIns="0" rtlCol="0" anchor="t"/>
          <a:lstStyle/>
          <a:p>
            <a:pPr marL="0" indent="0" algn="l">
              <a:lnSpc>
                <a:spcPct val="104000"/>
              </a:lnSpc>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b="1" dirty="0">
                <a:solidFill>
                  <a:srgbClr val="272525"/>
                </a:solidFill>
                <a:latin typeface="Inter Bold" pitchFamily="34" charset="0"/>
                <a:ea typeface="Inter Bold" pitchFamily="34" charset="-122"/>
                <a:cs typeface="Inter Bold" pitchFamily="34" charset="-120"/>
              </a:rPr>
              <a:t> Scalable</a:t>
            </a:r>
            <a:endParaRPr lang="en-US" sz="1200" dirty="0"/>
          </a:p>
        </p:txBody>
      </p:sp>
      <p:sp>
        <p:nvSpPr>
          <p:cNvPr id="13" name="Text 11"/>
          <p:cNvSpPr/>
          <p:nvPr/>
        </p:nvSpPr>
        <p:spPr>
          <a:xfrm>
            <a:off x="3338885" y="2786509"/>
            <a:ext cx="2466156" cy="198462"/>
          </a:xfrm>
          <a:prstGeom prst="rect">
            <a:avLst/>
          </a:prstGeom>
          <a:noFill/>
          <a:ln/>
        </p:spPr>
        <p:txBody>
          <a:bodyPr wrap="none" lIns="0" tIns="0" rIns="0" bIns="0" rtlCol="0" anchor="t"/>
          <a:lstStyle/>
          <a:p>
            <a:pPr marL="0" indent="0" algn="l">
              <a:lnSpc>
                <a:spcPct val="133000"/>
              </a:lnSpc>
              <a:buNone/>
            </a:pPr>
            <a:r>
              <a:rPr lang="en-US" sz="950" dirty="0">
                <a:solidFill>
                  <a:srgbClr val="272525"/>
                </a:solidFill>
                <a:latin typeface="Inter" pitchFamily="34" charset="0"/>
                <a:ea typeface="Inter" pitchFamily="34" charset="-122"/>
                <a:cs typeface="Inter" pitchFamily="34" charset="-120"/>
              </a:rPr>
              <a:t>City-wide deployment ready</a:t>
            </a:r>
            <a:endParaRPr lang="en-US" sz="950" dirty="0"/>
          </a:p>
        </p:txBody>
      </p:sp>
      <p:sp>
        <p:nvSpPr>
          <p:cNvPr id="14" name="Shape 12"/>
          <p:cNvSpPr/>
          <p:nvPr/>
        </p:nvSpPr>
        <p:spPr>
          <a:xfrm>
            <a:off x="5929015" y="2389510"/>
            <a:ext cx="2714104" cy="719435"/>
          </a:xfrm>
          <a:prstGeom prst="rect">
            <a:avLst/>
          </a:prstGeom>
          <a:solidFill>
            <a:srgbClr val="DADBF1"/>
          </a:solidFill>
          <a:ln/>
        </p:spPr>
      </p:sp>
      <p:sp>
        <p:nvSpPr>
          <p:cNvPr id="15" name="Shape 13"/>
          <p:cNvSpPr/>
          <p:nvPr/>
        </p:nvSpPr>
        <p:spPr>
          <a:xfrm>
            <a:off x="5929015" y="2389510"/>
            <a:ext cx="14288" cy="719435"/>
          </a:xfrm>
          <a:prstGeom prst="roundRect">
            <a:avLst>
              <a:gd name="adj" fmla="val 364638"/>
            </a:avLst>
          </a:prstGeom>
          <a:solidFill>
            <a:srgbClr val="C0C1D7"/>
          </a:solidFill>
          <a:ln/>
        </p:spPr>
      </p:sp>
      <p:sp>
        <p:nvSpPr>
          <p:cNvPr id="16" name="Text 14"/>
          <p:cNvSpPr/>
          <p:nvPr/>
        </p:nvSpPr>
        <p:spPr>
          <a:xfrm>
            <a:off x="6052989" y="2513484"/>
            <a:ext cx="2466156" cy="198611"/>
          </a:xfrm>
          <a:prstGeom prst="rect">
            <a:avLst/>
          </a:prstGeom>
          <a:noFill/>
          <a:ln/>
        </p:spPr>
        <p:txBody>
          <a:bodyPr wrap="none" lIns="0" tIns="0" rIns="0" bIns="0" rtlCol="0" anchor="t"/>
          <a:lstStyle/>
          <a:p>
            <a:pPr marL="0" indent="0" algn="l">
              <a:lnSpc>
                <a:spcPct val="104000"/>
              </a:lnSpc>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b="1" dirty="0">
                <a:solidFill>
                  <a:srgbClr val="272525"/>
                </a:solidFill>
                <a:latin typeface="Inter Bold" pitchFamily="34" charset="0"/>
                <a:ea typeface="Inter Bold" pitchFamily="34" charset="-122"/>
                <a:cs typeface="Inter Bold" pitchFamily="34" charset="-120"/>
              </a:rPr>
              <a:t> Impactful</a:t>
            </a:r>
            <a:endParaRPr lang="en-US" sz="1200" dirty="0"/>
          </a:p>
        </p:txBody>
      </p:sp>
      <p:sp>
        <p:nvSpPr>
          <p:cNvPr id="17" name="Text 15"/>
          <p:cNvSpPr/>
          <p:nvPr/>
        </p:nvSpPr>
        <p:spPr>
          <a:xfrm>
            <a:off x="6052989" y="2786509"/>
            <a:ext cx="2466156" cy="198462"/>
          </a:xfrm>
          <a:prstGeom prst="rect">
            <a:avLst/>
          </a:prstGeom>
          <a:noFill/>
          <a:ln/>
        </p:spPr>
        <p:txBody>
          <a:bodyPr wrap="none" lIns="0" tIns="0" rIns="0" bIns="0" rtlCol="0" anchor="t"/>
          <a:lstStyle/>
          <a:p>
            <a:pPr marL="0" indent="0" algn="l">
              <a:lnSpc>
                <a:spcPct val="133000"/>
              </a:lnSpc>
              <a:buNone/>
            </a:pPr>
            <a:r>
              <a:rPr lang="en-US" sz="950" dirty="0">
                <a:solidFill>
                  <a:srgbClr val="272525"/>
                </a:solidFill>
                <a:latin typeface="Inter" pitchFamily="34" charset="0"/>
                <a:ea typeface="Inter" pitchFamily="34" charset="-122"/>
                <a:cs typeface="Inter" pitchFamily="34" charset="-120"/>
              </a:rPr>
              <a:t>Lives saved, every day</a:t>
            </a:r>
            <a:endParaRPr lang="en-US" sz="950" dirty="0"/>
          </a:p>
        </p:txBody>
      </p:sp>
      <p:sp>
        <p:nvSpPr>
          <p:cNvPr id="18" name="Shape 16"/>
          <p:cNvSpPr/>
          <p:nvPr/>
        </p:nvSpPr>
        <p:spPr>
          <a:xfrm>
            <a:off x="496119" y="3253234"/>
            <a:ext cx="8151763" cy="1294581"/>
          </a:xfrm>
          <a:prstGeom prst="roundRect">
            <a:avLst>
              <a:gd name="adj" fmla="val 4024"/>
            </a:avLst>
          </a:prstGeom>
          <a:solidFill>
            <a:srgbClr val="DADBF1"/>
          </a:solidFill>
          <a:ln/>
        </p:spPr>
      </p:sp>
      <p:pic>
        <p:nvPicPr>
          <p:cNvPr id="19" name="Image 0" descr="preencoded.png"/>
          <p:cNvPicPr>
            <a:picLocks noChangeAspect="1"/>
          </p:cNvPicPr>
          <p:nvPr/>
        </p:nvPicPr>
        <p:blipFill>
          <a:blip r:embed="rId3"/>
          <a:stretch>
            <a:fillRect/>
          </a:stretch>
        </p:blipFill>
        <p:spPr>
          <a:xfrm>
            <a:off x="620092" y="3433018"/>
            <a:ext cx="155004" cy="123974"/>
          </a:xfrm>
          <a:prstGeom prst="rect">
            <a:avLst/>
          </a:prstGeom>
        </p:spPr>
      </p:pic>
      <p:sp>
        <p:nvSpPr>
          <p:cNvPr id="20" name="Text 17"/>
          <p:cNvSpPr/>
          <p:nvPr/>
        </p:nvSpPr>
        <p:spPr>
          <a:xfrm>
            <a:off x="899071" y="3408164"/>
            <a:ext cx="7624837" cy="997074"/>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000000"/>
                </a:solidFill>
                <a:latin typeface="Inter" pitchFamily="34" charset="0"/>
                <a:ea typeface="Inter" pitchFamily="34" charset="-122"/>
                <a:cs typeface="Inter" pitchFamily="34" charset="-120"/>
              </a:rPr>
              <a:t>🎤</a:t>
            </a:r>
            <a:r>
              <a:rPr lang="en-US" sz="950" b="1" dirty="0">
                <a:solidFill>
                  <a:srgbClr val="000000"/>
                </a:solidFill>
                <a:latin typeface="Inter Bold" pitchFamily="34" charset="0"/>
                <a:ea typeface="Inter Bold" pitchFamily="34" charset="-122"/>
                <a:cs typeface="Inter Bold" pitchFamily="34" charset="-120"/>
              </a:rPr>
              <a:t> Speaker Notes:</a:t>
            </a:r>
            <a:r>
              <a:rPr lang="en-US" sz="950" dirty="0">
                <a:solidFill>
                  <a:srgbClr val="000000"/>
                </a:solidFill>
                <a:latin typeface="Inter" pitchFamily="34" charset="0"/>
                <a:ea typeface="Inter" pitchFamily="34" charset="-122"/>
                <a:cs typeface="Inter" pitchFamily="34" charset="-120"/>
              </a:rPr>
              <a:t> To close — SwiftAid is not just a hackathon project. It is a fully functional, real-time emergency response platform with a clear path to real-world deployment. We've built the SOS app, the live tracking, the smart dispatch algorithm, and three powerful dashboards. We have the tech stack, the architecture, and the vision. What we need now is the opportunity to put this in the hands of the people who need it most. Every second counts. SwiftAid makes every second count. Thank you — we'd love to take your questions.</a:t>
            </a:r>
            <a:endParaRPr lang="en-US" sz="950" dirty="0"/>
          </a:p>
        </p:txBody>
      </p:sp>
      <p:pic>
        <p:nvPicPr>
          <p:cNvPr id="22" name="Picture 21">
            <a:extLst>
              <a:ext uri="{FF2B5EF4-FFF2-40B4-BE49-F238E27FC236}">
                <a16:creationId xmlns:a16="http://schemas.microsoft.com/office/drawing/2014/main" id="{853FA9E9-0740-2164-95EE-971099C24D85}"/>
              </a:ext>
            </a:extLst>
          </p:cNvPr>
          <p:cNvPicPr>
            <a:picLocks noChangeAspect="1"/>
          </p:cNvPicPr>
          <p:nvPr/>
        </p:nvPicPr>
        <p:blipFill>
          <a:blip r:embed="rId4"/>
          <a:stretch>
            <a:fillRect/>
          </a:stretch>
        </p:blipFill>
        <p:spPr>
          <a:xfrm>
            <a:off x="7962082" y="4838079"/>
            <a:ext cx="1143000" cy="23812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2039</Words>
  <Application>Microsoft Office PowerPoint</Application>
  <PresentationFormat>On-screen Show (16:9)</PresentationFormat>
  <Paragraphs>102</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Consolas</vt:lpstr>
      <vt:lpstr>Inter</vt:lpstr>
      <vt:lpstr>Arial</vt:lpstr>
      <vt:lpstr>Inter Bold</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KARNIK</dc:creator>
  <cp:lastModifiedBy>KARNIK JAIN</cp:lastModifiedBy>
  <cp:revision>3</cp:revision>
  <dcterms:created xsi:type="dcterms:W3CDTF">2026-07-10T22:01:50Z</dcterms:created>
  <dcterms:modified xsi:type="dcterms:W3CDTF">2026-07-10T22:08:01Z</dcterms:modified>
</cp:coreProperties>
</file>